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5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7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6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6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7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0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2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1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5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269748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2697480"/>
            <a:ext cx="1198778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ПРАКТИЧЕСКАЯ РАБОТА №1 · Анализ научной литературы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БОЛЬШИЕ ПРОСТРАНСТВЕННЫЕ
ДАННЫЕ В СФЕРЕ СТРОИТЕЛЬСТВА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Предметная область: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9272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CBE"/>
                </a:solidFill>
              </a:rPr>
              <a:t>Цифровое управление жизненным циклом строительных объектов на основе интеграции BIM, ГИС и пространственных данных от IoT-датчиков, спутниковых систем и геодезических изысканий. Область охватывает проектирование, строительство и эксплуатацию.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2743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500" b="1" i="0" dirty="0">
                <a:solidFill>
                  <a:srgbClr val="C9A84C"/>
                </a:solidFill>
              </a:rPr>
              <a:t>2025-ФГиИБ-ПИ-1м </a:t>
            </a:r>
          </a:p>
          <a:p>
            <a:pPr algn="l"/>
            <a:r>
              <a:rPr lang="ru-RU" sz="1500" b="1" dirty="0">
                <a:solidFill>
                  <a:srgbClr val="C9A84C"/>
                </a:solidFill>
              </a:rPr>
              <a:t>Сабитов Р.Р. </a:t>
            </a:r>
          </a:p>
          <a:p>
            <a:pPr algn="l"/>
            <a:r>
              <a:rPr lang="ru-RU" sz="1500" b="1" i="0" dirty="0">
                <a:solidFill>
                  <a:srgbClr val="C9A84C"/>
                </a:solidFill>
              </a:rPr>
              <a:t>г. Москва, </a:t>
            </a:r>
            <a:r>
              <a:rPr sz="1500" b="1" i="0" dirty="0">
                <a:solidFill>
                  <a:srgbClr val="C9A84C"/>
                </a:solidFill>
              </a:rPr>
              <a:t>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ПРЕДМЕТНАЯ ОБЛАСТЬ И ОБОСНОВАНИЕ ВЫБОРА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6599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53949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C9A84C"/>
                </a:solidFill>
              </a:rPr>
              <a:t>Описание</a:t>
            </a:r>
            <a:r>
              <a:rPr sz="1600" b="1" i="0" dirty="0">
                <a:solidFill>
                  <a:srgbClr val="C9A84C"/>
                </a:solidFill>
              </a:rPr>
              <a:t> </a:t>
            </a:r>
            <a:r>
              <a:rPr sz="1600" b="1" i="0" dirty="0" err="1">
                <a:solidFill>
                  <a:srgbClr val="C9A84C"/>
                </a:solidFill>
              </a:rPr>
              <a:t>области</a:t>
            </a:r>
            <a:endParaRPr sz="1600" b="1" i="0" dirty="0">
              <a:solidFill>
                <a:srgbClr val="C9A84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52120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0EBD8"/>
                </a:solidFill>
              </a:rPr>
              <a:t>Современное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строительство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переходит</a:t>
            </a:r>
            <a:r>
              <a:rPr sz="1400" b="0" i="0" dirty="0">
                <a:solidFill>
                  <a:srgbClr val="F0EBD8"/>
                </a:solidFill>
              </a:rPr>
              <a:t> к </a:t>
            </a:r>
            <a:r>
              <a:rPr sz="1400" b="0" i="0" dirty="0" err="1">
                <a:solidFill>
                  <a:srgbClr val="F0EBD8"/>
                </a:solidFill>
              </a:rPr>
              <a:t>цифровому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управлению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жизненным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циклом</a:t>
            </a:r>
            <a:r>
              <a:rPr sz="1400" b="0" i="0" dirty="0">
                <a:solidFill>
                  <a:srgbClr val="F0EBD8"/>
                </a:solidFill>
              </a:rPr>
              <a:t>: BIM </a:t>
            </a:r>
            <a:r>
              <a:rPr sz="1400" b="0" i="0" dirty="0" err="1">
                <a:solidFill>
                  <a:srgbClr val="F0EBD8"/>
                </a:solidFill>
              </a:rPr>
              <a:t>обеспечивает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детальную</a:t>
            </a:r>
            <a:r>
              <a:rPr sz="1400" b="0" i="0" dirty="0">
                <a:solidFill>
                  <a:srgbClr val="F0EBD8"/>
                </a:solidFill>
              </a:rPr>
              <a:t> 3D-модель </a:t>
            </a:r>
            <a:r>
              <a:rPr sz="1400" b="0" i="0" dirty="0" err="1">
                <a:solidFill>
                  <a:srgbClr val="F0EBD8"/>
                </a:solidFill>
              </a:rPr>
              <a:t>объекта</a:t>
            </a:r>
            <a:r>
              <a:rPr sz="1400" b="0" i="0" dirty="0">
                <a:solidFill>
                  <a:srgbClr val="F0EBD8"/>
                </a:solidFill>
              </a:rPr>
              <a:t> с </a:t>
            </a:r>
            <a:r>
              <a:rPr sz="1400" b="0" i="0" dirty="0" err="1">
                <a:solidFill>
                  <a:srgbClr val="F0EBD8"/>
                </a:solidFill>
              </a:rPr>
              <a:t>инженерными</a:t>
            </a:r>
            <a:r>
              <a:rPr sz="1400" b="0" i="0" dirty="0">
                <a:solidFill>
                  <a:srgbClr val="F0EBD8"/>
                </a:solidFill>
              </a:rPr>
              <a:t> и </a:t>
            </a:r>
            <a:r>
              <a:rPr sz="1400" b="0" i="0" dirty="0" err="1">
                <a:solidFill>
                  <a:srgbClr val="F0EBD8"/>
                </a:solidFill>
              </a:rPr>
              <a:t>календарными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данными</a:t>
            </a:r>
            <a:r>
              <a:rPr sz="1400" b="0" i="0" dirty="0">
                <a:solidFill>
                  <a:srgbClr val="F0EBD8"/>
                </a:solidFill>
              </a:rPr>
              <a:t>, ГИС </a:t>
            </a:r>
            <a:r>
              <a:rPr sz="1400" b="0" i="0" dirty="0" err="1">
                <a:solidFill>
                  <a:srgbClr val="F0EBD8"/>
                </a:solidFill>
              </a:rPr>
              <a:t>предоставляет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пространственный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контекст</a:t>
            </a:r>
            <a:r>
              <a:rPr sz="1400" b="0" i="0" dirty="0">
                <a:solidFill>
                  <a:srgbClr val="F0EBD8"/>
                </a:solidFill>
              </a:rPr>
              <a:t> (</a:t>
            </a:r>
            <a:r>
              <a:rPr sz="1400" b="0" i="0" dirty="0" err="1">
                <a:solidFill>
                  <a:srgbClr val="F0EBD8"/>
                </a:solidFill>
              </a:rPr>
              <a:t>топография</a:t>
            </a:r>
            <a:r>
              <a:rPr sz="1400" b="0" i="0" dirty="0">
                <a:solidFill>
                  <a:srgbClr val="F0EBD8"/>
                </a:solidFill>
              </a:rPr>
              <a:t>, </a:t>
            </a:r>
            <a:r>
              <a:rPr sz="1400" b="0" i="0" dirty="0" err="1">
                <a:solidFill>
                  <a:srgbClr val="F0EBD8"/>
                </a:solidFill>
              </a:rPr>
              <a:t>кадастр</a:t>
            </a:r>
            <a:r>
              <a:rPr sz="1400" b="0" i="0" dirty="0">
                <a:solidFill>
                  <a:srgbClr val="F0EBD8"/>
                </a:solidFill>
              </a:rPr>
              <a:t>, </a:t>
            </a:r>
            <a:r>
              <a:rPr sz="1400" b="0" i="0" dirty="0" err="1">
                <a:solidFill>
                  <a:srgbClr val="F0EBD8"/>
                </a:solidFill>
              </a:rPr>
              <a:t>инфраструктура</a:t>
            </a:r>
            <a:r>
              <a:rPr sz="1400" b="0" i="0" dirty="0">
                <a:solidFill>
                  <a:srgbClr val="F0EBD8"/>
                </a:solidFill>
              </a:rPr>
              <a:t>, </a:t>
            </a:r>
            <a:r>
              <a:rPr sz="1400" b="0" i="0" dirty="0" err="1">
                <a:solidFill>
                  <a:srgbClr val="F0EBD8"/>
                </a:solidFill>
              </a:rPr>
              <a:t>экология</a:t>
            </a:r>
            <a:r>
              <a:rPr sz="1400" b="0" i="0" dirty="0">
                <a:solidFill>
                  <a:srgbClr val="F0EBD8"/>
                </a:solidFill>
              </a:rPr>
              <a:t>), а IoT-</a:t>
            </a:r>
            <a:r>
              <a:rPr sz="1400" b="0" i="0" dirty="0" err="1">
                <a:solidFill>
                  <a:srgbClr val="F0EBD8"/>
                </a:solidFill>
              </a:rPr>
              <a:t>датчики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генерируют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непрерывные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потоки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данных</a:t>
            </a:r>
            <a:r>
              <a:rPr sz="1400" b="0" i="0" dirty="0">
                <a:solidFill>
                  <a:srgbClr val="F0EBD8"/>
                </a:solidFill>
              </a:rPr>
              <a:t> о </a:t>
            </a:r>
            <a:r>
              <a:rPr sz="1400" b="0" i="0" dirty="0" err="1">
                <a:solidFill>
                  <a:srgbClr val="F0EBD8"/>
                </a:solidFill>
              </a:rPr>
              <a:t>ресурсах</a:t>
            </a:r>
            <a:r>
              <a:rPr sz="1400" b="0" i="0" dirty="0">
                <a:solidFill>
                  <a:srgbClr val="F0EBD8"/>
                </a:solidFill>
              </a:rPr>
              <a:t> и </a:t>
            </a:r>
            <a:r>
              <a:rPr sz="1400" b="0" i="0" dirty="0" err="1">
                <a:solidFill>
                  <a:srgbClr val="F0EBD8"/>
                </a:solidFill>
              </a:rPr>
              <a:t>среде</a:t>
            </a:r>
            <a:r>
              <a:rPr sz="1400" b="0" i="0" dirty="0">
                <a:solidFill>
                  <a:srgbClr val="F0EBD8"/>
                </a:solidFill>
              </a:rPr>
              <a:t>. </a:t>
            </a:r>
            <a:r>
              <a:rPr sz="1400" b="0" i="0" dirty="0" err="1">
                <a:solidFill>
                  <a:srgbClr val="F0EBD8"/>
                </a:solidFill>
              </a:rPr>
              <a:t>Интеграция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трёх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технологий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формирует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единую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цифровую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среду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объекта</a:t>
            </a:r>
            <a:r>
              <a:rPr sz="1400" b="0" i="0" dirty="0">
                <a:solidFill>
                  <a:srgbClr val="F0EBD8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C9A84C"/>
                </a:solidFill>
              </a:rPr>
              <a:t>Почему</a:t>
            </a:r>
            <a:r>
              <a:rPr sz="1600" b="1" i="0" dirty="0">
                <a:solidFill>
                  <a:srgbClr val="C9A84C"/>
                </a:solidFill>
              </a:rPr>
              <a:t> </a:t>
            </a:r>
            <a:r>
              <a:rPr sz="1600" b="1" i="0" dirty="0" err="1">
                <a:solidFill>
                  <a:srgbClr val="C9A84C"/>
                </a:solidFill>
              </a:rPr>
              <a:t>актуально</a:t>
            </a:r>
            <a:r>
              <a:rPr sz="1600" b="1" i="0" dirty="0">
                <a:solidFill>
                  <a:srgbClr val="C9A84C"/>
                </a:solidFill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2120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0EBD8"/>
                </a:solidFill>
              </a:rPr>
              <a:t>• </a:t>
            </a:r>
            <a:r>
              <a:rPr sz="1400" b="0" i="0" dirty="0" err="1">
                <a:solidFill>
                  <a:srgbClr val="F0EBD8"/>
                </a:solidFill>
              </a:rPr>
              <a:t>Высокая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аварийность</a:t>
            </a:r>
            <a:r>
              <a:rPr sz="1400" b="0" i="0" dirty="0">
                <a:solidFill>
                  <a:srgbClr val="F0EBD8"/>
                </a:solidFill>
              </a:rPr>
              <a:t> и </a:t>
            </a:r>
            <a:r>
              <a:rPr sz="1400" b="0" i="0" dirty="0" err="1">
                <a:solidFill>
                  <a:srgbClr val="F0EBD8"/>
                </a:solidFill>
              </a:rPr>
              <a:t>перерасход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бюджетов</a:t>
            </a:r>
            <a:r>
              <a:rPr sz="1400" b="0" i="0" dirty="0">
                <a:solidFill>
                  <a:srgbClr val="F0EBD8"/>
                </a:solidFill>
              </a:rPr>
              <a:t> в </a:t>
            </a:r>
            <a:r>
              <a:rPr sz="1400" b="0" i="0" dirty="0" err="1">
                <a:solidFill>
                  <a:srgbClr val="F0EBD8"/>
                </a:solidFill>
              </a:rPr>
              <a:t>строительной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отрасли</a:t>
            </a:r>
            <a:r>
              <a:rPr sz="1400" b="0" i="0" dirty="0">
                <a:solidFill>
                  <a:srgbClr val="F0EBD8"/>
                </a:solidFill>
              </a:rPr>
              <a:t>
• </a:t>
            </a:r>
            <a:r>
              <a:rPr sz="1400" b="0" i="0" dirty="0" err="1">
                <a:solidFill>
                  <a:srgbClr val="F0EBD8"/>
                </a:solidFill>
              </a:rPr>
              <a:t>Государственная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цифровизация</a:t>
            </a:r>
            <a:r>
              <a:rPr sz="1400" b="0" i="0" dirty="0">
                <a:solidFill>
                  <a:srgbClr val="F0EBD8"/>
                </a:solidFill>
              </a:rPr>
              <a:t>: BIM-</a:t>
            </a:r>
            <a:r>
              <a:rPr sz="1400" b="0" i="0" dirty="0" err="1">
                <a:solidFill>
                  <a:srgbClr val="F0EBD8"/>
                </a:solidFill>
              </a:rPr>
              <a:t>мандаты</a:t>
            </a:r>
            <a:r>
              <a:rPr sz="1400" b="0" i="0" dirty="0">
                <a:solidFill>
                  <a:srgbClr val="F0EBD8"/>
                </a:solidFill>
              </a:rPr>
              <a:t> и </a:t>
            </a:r>
            <a:r>
              <a:rPr sz="1400" b="0" i="0" dirty="0" err="1">
                <a:solidFill>
                  <a:srgbClr val="F0EBD8"/>
                </a:solidFill>
              </a:rPr>
              <a:t>нацпроекты</a:t>
            </a:r>
            <a:r>
              <a:rPr sz="1400" b="0" i="0" dirty="0">
                <a:solidFill>
                  <a:srgbClr val="F0EBD8"/>
                </a:solidFill>
              </a:rPr>
              <a:t>
• </a:t>
            </a:r>
            <a:r>
              <a:rPr sz="1400" b="0" i="0" dirty="0" err="1">
                <a:solidFill>
                  <a:srgbClr val="F0EBD8"/>
                </a:solidFill>
              </a:rPr>
              <a:t>Массовое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распространение</a:t>
            </a:r>
            <a:r>
              <a:rPr sz="1400" b="0" i="0" dirty="0">
                <a:solidFill>
                  <a:srgbClr val="F0EBD8"/>
                </a:solidFill>
              </a:rPr>
              <a:t> IoT, GNSS, LiDAR, БПЛА </a:t>
            </a:r>
            <a:r>
              <a:rPr sz="1400" b="0" i="0" dirty="0" err="1">
                <a:solidFill>
                  <a:srgbClr val="F0EBD8"/>
                </a:solidFill>
              </a:rPr>
              <a:t>на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стройках</a:t>
            </a:r>
            <a:r>
              <a:rPr sz="1400" b="0" i="0" dirty="0">
                <a:solidFill>
                  <a:srgbClr val="F0EBD8"/>
                </a:solidFill>
              </a:rPr>
              <a:t>
• </a:t>
            </a:r>
            <a:r>
              <a:rPr sz="1400" b="0" i="0" dirty="0" err="1">
                <a:solidFill>
                  <a:srgbClr val="F0EBD8"/>
                </a:solidFill>
              </a:rPr>
              <a:t>Потребность</a:t>
            </a:r>
            <a:r>
              <a:rPr sz="1400" b="0" i="0" dirty="0">
                <a:solidFill>
                  <a:srgbClr val="F0EBD8"/>
                </a:solidFill>
              </a:rPr>
              <a:t> в </a:t>
            </a:r>
            <a:r>
              <a:rPr sz="1400" b="0" i="0" dirty="0" err="1">
                <a:solidFill>
                  <a:srgbClr val="F0EBD8"/>
                </a:solidFill>
              </a:rPr>
              <a:t>аналитике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больших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объёмов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разнородных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данных</a:t>
            </a:r>
            <a:r>
              <a:rPr sz="1400" b="0" i="0" dirty="0">
                <a:solidFill>
                  <a:srgbClr val="F0EBD8"/>
                </a:solidFill>
              </a:rPr>
              <a:t>
• </a:t>
            </a:r>
            <a:r>
              <a:rPr sz="1400" b="0" i="0" dirty="0" err="1">
                <a:solidFill>
                  <a:srgbClr val="F0EBD8"/>
                </a:solidFill>
              </a:rPr>
              <a:t>Запрос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на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предиктивное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управление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рисками</a:t>
            </a:r>
            <a:r>
              <a:rPr sz="1400" b="0" i="0" dirty="0">
                <a:solidFill>
                  <a:srgbClr val="F0EBD8"/>
                </a:solidFill>
              </a:rPr>
              <a:t>, </a:t>
            </a:r>
            <a:r>
              <a:rPr sz="1400" b="0" i="0" dirty="0" err="1">
                <a:solidFill>
                  <a:srgbClr val="F0EBD8"/>
                </a:solidFill>
              </a:rPr>
              <a:t>сроками</a:t>
            </a:r>
            <a:r>
              <a:rPr sz="1400" b="0" i="0" dirty="0">
                <a:solidFill>
                  <a:srgbClr val="F0EBD8"/>
                </a:solidFill>
              </a:rPr>
              <a:t> и </a:t>
            </a:r>
            <a:r>
              <a:rPr sz="1400" b="0" i="0" dirty="0" err="1">
                <a:solidFill>
                  <a:srgbClr val="F0EBD8"/>
                </a:solidFill>
              </a:rPr>
              <a:t>ресурсами</a:t>
            </a:r>
            <a:endParaRPr sz="1400" b="0" i="0" dirty="0">
              <a:solidFill>
                <a:srgbClr val="F0EBD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0760" y="1234440"/>
            <a:ext cx="5760720" cy="53949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7A"/>
                </a:solidFill>
              </a:rPr>
              <a:t>Типы «Больших Данных» в строительстве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📐 BIM-</a:t>
            </a:r>
            <a:r>
              <a:rPr sz="1400" b="1" i="0" dirty="0" err="1">
                <a:solidFill>
                  <a:srgbClr val="FFFFFF"/>
                </a:solidFill>
              </a:rPr>
              <a:t>модели</a:t>
            </a:r>
            <a:r>
              <a:rPr sz="1400" b="1" i="0" dirty="0">
                <a:solidFill>
                  <a:srgbClr val="FFFFFF"/>
                </a:solidFill>
              </a:rPr>
              <a:t> (</a:t>
            </a:r>
            <a:r>
              <a:rPr sz="1400" b="1" i="0" dirty="0" err="1">
                <a:solidFill>
                  <a:srgbClr val="FFFFFF"/>
                </a:solidFill>
              </a:rPr>
              <a:t>объём</a:t>
            </a:r>
            <a:r>
              <a:rPr sz="1400" b="1" i="0" dirty="0">
                <a:solidFill>
                  <a:srgbClr val="FFFFFF"/>
                </a:solidFill>
              </a:rPr>
              <a:t> + </a:t>
            </a:r>
            <a:r>
              <a:rPr sz="1400" b="1" i="0" dirty="0" err="1">
                <a:solidFill>
                  <a:srgbClr val="FFFFFF"/>
                </a:solidFill>
              </a:rPr>
              <a:t>разнообразие</a:t>
            </a:r>
            <a:r>
              <a:rPr sz="1400" b="1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12848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Миллионы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элементов</a:t>
            </a:r>
            <a:r>
              <a:rPr sz="1200" b="0" i="0" dirty="0">
                <a:solidFill>
                  <a:srgbClr val="B8CCBE"/>
                </a:solidFill>
              </a:rPr>
              <a:t> IFC: </a:t>
            </a:r>
            <a:r>
              <a:rPr sz="1200" b="0" i="0" dirty="0" err="1">
                <a:solidFill>
                  <a:srgbClr val="B8CCBE"/>
                </a:solidFill>
              </a:rPr>
              <a:t>геометрия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атрибуты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графики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работ</a:t>
            </a:r>
            <a:r>
              <a:rPr sz="1200" b="0" i="0" dirty="0">
                <a:solidFill>
                  <a:srgbClr val="B8CCBE"/>
                </a:solidFill>
              </a:rPr>
              <a:t>. </a:t>
            </a:r>
            <a:r>
              <a:rPr sz="1200" b="0" i="0" dirty="0" err="1">
                <a:solidFill>
                  <a:srgbClr val="B8CCBE"/>
                </a:solidFill>
              </a:rPr>
              <a:t>От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сотен</a:t>
            </a:r>
            <a:r>
              <a:rPr sz="1200" b="0" i="0" dirty="0">
                <a:solidFill>
                  <a:srgbClr val="B8CCBE"/>
                </a:solidFill>
              </a:rPr>
              <a:t> МБ </a:t>
            </a:r>
            <a:r>
              <a:rPr sz="1200" b="0" i="0" dirty="0" err="1">
                <a:solidFill>
                  <a:srgbClr val="B8CCBE"/>
                </a:solidFill>
              </a:rPr>
              <a:t>до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нескольких</a:t>
            </a:r>
            <a:r>
              <a:rPr sz="1200" b="0" i="0" dirty="0">
                <a:solidFill>
                  <a:srgbClr val="B8CCBE"/>
                </a:solidFill>
              </a:rPr>
              <a:t> ГБ </a:t>
            </a:r>
            <a:r>
              <a:rPr sz="1200" b="0" i="0" dirty="0" err="1">
                <a:solidFill>
                  <a:srgbClr val="B8CCBE"/>
                </a:solidFill>
              </a:rPr>
              <a:t>на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крупный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объект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🗺  ГИС-</a:t>
            </a:r>
            <a:r>
              <a:rPr sz="1400" b="1" i="0" dirty="0" err="1">
                <a:solidFill>
                  <a:srgbClr val="FFFFFF"/>
                </a:solidFill>
              </a:rPr>
              <a:t>слои</a:t>
            </a:r>
            <a:r>
              <a:rPr sz="1400" b="1" i="0" dirty="0">
                <a:solidFill>
                  <a:srgbClr val="FFFFFF"/>
                </a:solidFill>
              </a:rPr>
              <a:t> (</a:t>
            </a:r>
            <a:r>
              <a:rPr sz="1400" b="1" i="0" dirty="0" err="1">
                <a:solidFill>
                  <a:srgbClr val="FFFFFF"/>
                </a:solidFill>
              </a:rPr>
              <a:t>объём</a:t>
            </a:r>
            <a:r>
              <a:rPr sz="1400" b="1" i="0" dirty="0">
                <a:solidFill>
                  <a:srgbClr val="FFFFFF"/>
                </a:solidFill>
              </a:rPr>
              <a:t> + </a:t>
            </a:r>
            <a:r>
              <a:rPr sz="1400" b="1" i="0" dirty="0" err="1">
                <a:solidFill>
                  <a:srgbClr val="FFFFFF"/>
                </a:solidFill>
              </a:rPr>
              <a:t>разнообразие</a:t>
            </a:r>
            <a:r>
              <a:rPr sz="1400" b="1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72968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Кадастровые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планы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топография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инженерные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сети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экологические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ограничения</a:t>
            </a:r>
            <a:r>
              <a:rPr sz="1200" b="0" i="0" dirty="0">
                <a:solidFill>
                  <a:srgbClr val="B8CCBE"/>
                </a:solidFill>
              </a:rPr>
              <a:t> — </a:t>
            </a:r>
            <a:r>
              <a:rPr sz="1200" b="0" i="0" dirty="0" err="1">
                <a:solidFill>
                  <a:srgbClr val="B8CCBE"/>
                </a:solidFill>
              </a:rPr>
              <a:t>тысячи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слоёв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по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городу</a:t>
            </a:r>
            <a:r>
              <a:rPr sz="1200" b="0" i="0" dirty="0">
                <a:solidFill>
                  <a:srgbClr val="B8CCBE"/>
                </a:solidFill>
              </a:rPr>
              <a:t> и </a:t>
            </a:r>
            <a:r>
              <a:rPr sz="1200" b="0" i="0" dirty="0" err="1">
                <a:solidFill>
                  <a:srgbClr val="B8CCBE"/>
                </a:solidFill>
              </a:rPr>
              <a:t>агломерации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7947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📡 IoT / </a:t>
            </a:r>
            <a:r>
              <a:rPr sz="1400" b="1" i="0" dirty="0" err="1">
                <a:solidFill>
                  <a:srgbClr val="FFFFFF"/>
                </a:solidFill>
              </a:rPr>
              <a:t>датчики</a:t>
            </a:r>
            <a:r>
              <a:rPr sz="1400" b="1" i="0" dirty="0">
                <a:solidFill>
                  <a:srgbClr val="FFFFFF"/>
                </a:solidFill>
              </a:rPr>
              <a:t> (</a:t>
            </a:r>
            <a:r>
              <a:rPr sz="1400" b="1" i="0" dirty="0" err="1">
                <a:solidFill>
                  <a:srgbClr val="FFFFFF"/>
                </a:solidFill>
              </a:rPr>
              <a:t>скорость</a:t>
            </a:r>
            <a:r>
              <a:rPr sz="1400" b="1" i="0" dirty="0">
                <a:solidFill>
                  <a:srgbClr val="FFFFFF"/>
                </a:solidFill>
              </a:rPr>
              <a:t> + </a:t>
            </a:r>
            <a:r>
              <a:rPr sz="1400" b="1" i="0" dirty="0" err="1">
                <a:solidFill>
                  <a:srgbClr val="FFFFFF"/>
                </a:solidFill>
              </a:rPr>
              <a:t>объём</a:t>
            </a:r>
            <a:r>
              <a:rPr sz="1400" b="1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33087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Позиции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рабочих</a:t>
            </a:r>
            <a:r>
              <a:rPr sz="1200" b="0" i="0" dirty="0">
                <a:solidFill>
                  <a:srgbClr val="B8CCBE"/>
                </a:solidFill>
              </a:rPr>
              <a:t> и </a:t>
            </a:r>
            <a:r>
              <a:rPr sz="1200" b="0" i="0" dirty="0" err="1">
                <a:solidFill>
                  <a:srgbClr val="B8CCBE"/>
                </a:solidFill>
              </a:rPr>
              <a:t>техники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параметры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среды</a:t>
            </a:r>
            <a:r>
              <a:rPr sz="1200" b="0" i="0" dirty="0">
                <a:solidFill>
                  <a:srgbClr val="B8CCBE"/>
                </a:solidFill>
              </a:rPr>
              <a:t> — </a:t>
            </a:r>
            <a:r>
              <a:rPr sz="1200" b="0" i="0" dirty="0" err="1">
                <a:solidFill>
                  <a:srgbClr val="B8CCBE"/>
                </a:solidFill>
              </a:rPr>
              <a:t>потоки</a:t>
            </a:r>
            <a:r>
              <a:rPr sz="1200" b="0" i="0" dirty="0">
                <a:solidFill>
                  <a:srgbClr val="B8CCBE"/>
                </a:solidFill>
              </a:rPr>
              <a:t> с </a:t>
            </a:r>
            <a:r>
              <a:rPr sz="1200" b="0" i="0" dirty="0" err="1">
                <a:solidFill>
                  <a:srgbClr val="B8CCBE"/>
                </a:solidFill>
              </a:rPr>
              <a:t>интервалом</a:t>
            </a:r>
            <a:r>
              <a:rPr sz="1200" b="0" i="0" dirty="0">
                <a:solidFill>
                  <a:srgbClr val="B8CCBE"/>
                </a:solidFill>
              </a:rPr>
              <a:t> в </a:t>
            </a:r>
            <a:r>
              <a:rPr sz="1200" b="0" i="0" dirty="0" err="1">
                <a:solidFill>
                  <a:srgbClr val="B8CCBE"/>
                </a:solidFill>
              </a:rPr>
              <a:t>секунды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миллионы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записей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за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одну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рабочую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смену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754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🛰  LiDAR / </a:t>
            </a:r>
            <a:r>
              <a:rPr sz="1400" b="1" i="0" dirty="0" err="1">
                <a:solidFill>
                  <a:srgbClr val="FFFFFF"/>
                </a:solidFill>
              </a:rPr>
              <a:t>облака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точек</a:t>
            </a:r>
            <a:r>
              <a:rPr sz="1400" b="1" i="0" dirty="0">
                <a:solidFill>
                  <a:srgbClr val="FFFFFF"/>
                </a:solidFill>
              </a:rPr>
              <a:t> (</a:t>
            </a:r>
            <a:r>
              <a:rPr sz="1400" b="1" i="0" dirty="0" err="1">
                <a:solidFill>
                  <a:srgbClr val="FFFFFF"/>
                </a:solidFill>
              </a:rPr>
              <a:t>объём</a:t>
            </a:r>
            <a:r>
              <a:rPr sz="1400" b="1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093207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Сотни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миллионов</a:t>
            </a:r>
            <a:r>
              <a:rPr sz="1200" b="0" i="0" dirty="0">
                <a:solidFill>
                  <a:srgbClr val="B8CCBE"/>
                </a:solidFill>
              </a:rPr>
              <a:t> 3D-точек </a:t>
            </a:r>
            <a:r>
              <a:rPr sz="1200" b="0" i="0" dirty="0" err="1">
                <a:solidFill>
                  <a:srgbClr val="B8CCBE"/>
                </a:solidFill>
              </a:rPr>
              <a:t>на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объект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при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геодезической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съёмке</a:t>
            </a:r>
            <a:r>
              <a:rPr sz="1200" b="0" i="0" dirty="0">
                <a:solidFill>
                  <a:srgbClr val="B8CCBE"/>
                </a:solidFill>
              </a:rPr>
              <a:t> и </a:t>
            </a:r>
            <a:r>
              <a:rPr sz="1200" b="0" i="0" dirty="0" err="1">
                <a:solidFill>
                  <a:srgbClr val="B8CCBE"/>
                </a:solidFill>
              </a:rPr>
              <a:t>сканировании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конструкций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7149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📱 </a:t>
            </a:r>
            <a:r>
              <a:rPr sz="1400" b="1" i="0" dirty="0" err="1">
                <a:solidFill>
                  <a:srgbClr val="FFFFFF"/>
                </a:solidFill>
              </a:rPr>
              <a:t>Внешние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источники</a:t>
            </a:r>
            <a:r>
              <a:rPr sz="1400" b="1" i="0" dirty="0">
                <a:solidFill>
                  <a:srgbClr val="FFFFFF"/>
                </a:solidFill>
              </a:rPr>
              <a:t> (</a:t>
            </a:r>
            <a:r>
              <a:rPr sz="1400" b="1" i="0" dirty="0" err="1">
                <a:solidFill>
                  <a:srgbClr val="FFFFFF"/>
                </a:solidFill>
              </a:rPr>
              <a:t>разнообразие</a:t>
            </a:r>
            <a:r>
              <a:rPr sz="1400" b="1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6053327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Спутниковые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снимки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мобильная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геолокация</a:t>
            </a:r>
            <a:r>
              <a:rPr sz="1200" b="0" i="0" dirty="0">
                <a:solidFill>
                  <a:srgbClr val="B8CCBE"/>
                </a:solidFill>
              </a:rPr>
              <a:t>, </a:t>
            </a:r>
            <a:r>
              <a:rPr sz="1200" b="0" i="0" dirty="0" err="1">
                <a:solidFill>
                  <a:srgbClr val="B8CCBE"/>
                </a:solidFill>
              </a:rPr>
              <a:t>погодные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данные</a:t>
            </a:r>
            <a:r>
              <a:rPr sz="1200" b="0" i="0" dirty="0">
                <a:solidFill>
                  <a:srgbClr val="B8CCBE"/>
                </a:solidFill>
              </a:rPr>
              <a:t> — </a:t>
            </a:r>
            <a:r>
              <a:rPr sz="1200" b="0" i="0" dirty="0" err="1">
                <a:solidFill>
                  <a:srgbClr val="B8CCBE"/>
                </a:solidFill>
              </a:rPr>
              <a:t>большие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пространственно-временны́е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массивы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для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контекста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7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61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АНАЛИЗ ЗАРУБЕЖНЫХ ИСТОЧНИКОВ (1 /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65992" cy="4572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251460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577840" cy="329184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75488" y="1289304"/>
            <a:ext cx="534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21F1A"/>
                </a:solidFill>
              </a:rPr>
              <a:t>Zawada K. et al.,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64207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Acta Scientiarum Polonorum Architectura · Vol.23, P.358–368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011679"/>
            <a:ext cx="5349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0EBD8"/>
                </a:solidFill>
              </a:rPr>
              <a:t>Проблема</a:t>
            </a:r>
            <a:r>
              <a:rPr sz="1400" b="0" i="0" dirty="0">
                <a:solidFill>
                  <a:srgbClr val="F0EBD8"/>
                </a:solidFill>
              </a:rPr>
              <a:t>: </a:t>
            </a:r>
            <a:r>
              <a:rPr sz="1400" b="0" i="0" dirty="0" err="1">
                <a:solidFill>
                  <a:srgbClr val="F0EBD8"/>
                </a:solidFill>
              </a:rPr>
              <a:t>оценка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влияния</a:t>
            </a:r>
            <a:r>
              <a:rPr sz="1400" b="0" i="0" dirty="0">
                <a:solidFill>
                  <a:srgbClr val="F0EBD8"/>
                </a:solidFill>
              </a:rPr>
              <a:t> BIM и ГИС </a:t>
            </a:r>
            <a:r>
              <a:rPr sz="1400" b="0" i="0" dirty="0" err="1">
                <a:solidFill>
                  <a:srgbClr val="F0EBD8"/>
                </a:solidFill>
              </a:rPr>
              <a:t>на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эффективность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крупного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транспортного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проекта</a:t>
            </a:r>
            <a:r>
              <a:rPr sz="1400" b="0" i="0" dirty="0">
                <a:solidFill>
                  <a:srgbClr val="F0EBD8"/>
                </a:solidFill>
              </a:rPr>
              <a:t> (</a:t>
            </a:r>
            <a:r>
              <a:rPr sz="1400" b="0" i="0" dirty="0" err="1">
                <a:solidFill>
                  <a:srgbClr val="F0EBD8"/>
                </a:solidFill>
              </a:rPr>
              <a:t>аэропорт</a:t>
            </a:r>
            <a:r>
              <a:rPr sz="1400" b="0" i="0" dirty="0">
                <a:solidFill>
                  <a:srgbClr val="F0EBD8"/>
                </a:solidFill>
              </a:rPr>
              <a:t> CPK, </a:t>
            </a:r>
            <a:r>
              <a:rPr sz="1400" b="0" i="0" dirty="0" err="1">
                <a:solidFill>
                  <a:srgbClr val="F0EBD8"/>
                </a:solidFill>
              </a:rPr>
              <a:t>Польша</a:t>
            </a:r>
            <a:r>
              <a:rPr sz="1400" b="0" i="0" dirty="0">
                <a:solidFill>
                  <a:srgbClr val="F0EBD8"/>
                </a:solidFill>
              </a:rPr>
              <a:t>). </a:t>
            </a:r>
            <a:r>
              <a:rPr sz="1400" b="0" i="0" dirty="0" err="1">
                <a:solidFill>
                  <a:srgbClr val="F0EBD8"/>
                </a:solidFill>
              </a:rPr>
              <a:t>Метод</a:t>
            </a:r>
            <a:r>
              <a:rPr sz="1400" b="0" i="0" dirty="0">
                <a:solidFill>
                  <a:srgbClr val="F0EBD8"/>
                </a:solidFill>
              </a:rPr>
              <a:t>: </a:t>
            </a:r>
            <a:r>
              <a:rPr sz="1400" b="0" i="0" dirty="0" err="1">
                <a:solidFill>
                  <a:srgbClr val="F0EBD8"/>
                </a:solidFill>
              </a:rPr>
              <a:t>детальный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кейс-анализ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управления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данными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на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всех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стадиях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проекта</a:t>
            </a:r>
            <a:r>
              <a:rPr sz="1400" b="0" i="0" dirty="0">
                <a:solidFill>
                  <a:srgbClr val="F0EBD8"/>
                </a:solidFill>
              </a:rPr>
              <a:t>. </a:t>
            </a:r>
            <a:r>
              <a:rPr sz="1400" b="0" i="0" dirty="0" err="1">
                <a:solidFill>
                  <a:srgbClr val="F0EBD8"/>
                </a:solidFill>
              </a:rPr>
              <a:t>Результат</a:t>
            </a:r>
            <a:r>
              <a:rPr sz="1400" b="0" i="0" dirty="0">
                <a:solidFill>
                  <a:srgbClr val="F0EBD8"/>
                </a:solidFill>
              </a:rPr>
              <a:t>: </a:t>
            </a:r>
            <a:r>
              <a:rPr sz="1400" b="0" i="0" dirty="0" err="1">
                <a:solidFill>
                  <a:srgbClr val="F0EBD8"/>
                </a:solidFill>
              </a:rPr>
              <a:t>интеграция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снижает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риски</a:t>
            </a:r>
            <a:r>
              <a:rPr sz="1400" b="0" i="0" dirty="0">
                <a:solidFill>
                  <a:srgbClr val="F0EBD8"/>
                </a:solidFill>
              </a:rPr>
              <a:t> и </a:t>
            </a:r>
            <a:r>
              <a:rPr sz="1400" b="0" i="0" dirty="0" err="1">
                <a:solidFill>
                  <a:srgbClr val="F0EBD8"/>
                </a:solidFill>
              </a:rPr>
              <a:t>улучшает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ресурсное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планирование</a:t>
            </a:r>
            <a:r>
              <a:rPr sz="1400" b="0" i="0" dirty="0">
                <a:solidFill>
                  <a:srgbClr val="F0EBD8"/>
                </a:solidFill>
              </a:rPr>
              <a:t>. </a:t>
            </a:r>
            <a:r>
              <a:rPr sz="1400" b="0" i="0" dirty="0" err="1">
                <a:solidFill>
                  <a:srgbClr val="F0EBD8"/>
                </a:solidFill>
              </a:rPr>
              <a:t>Связь</a:t>
            </a:r>
            <a:r>
              <a:rPr sz="1400" b="0" i="0" dirty="0">
                <a:solidFill>
                  <a:srgbClr val="F0EBD8"/>
                </a:solidFill>
              </a:rPr>
              <a:t> с Big Data: </a:t>
            </a:r>
            <a:r>
              <a:rPr sz="1400" b="0" i="0" dirty="0" err="1">
                <a:solidFill>
                  <a:srgbClr val="F0EBD8"/>
                </a:solidFill>
              </a:rPr>
              <a:t>масштаб</a:t>
            </a:r>
            <a:r>
              <a:rPr sz="1400" b="0" i="0" dirty="0">
                <a:solidFill>
                  <a:srgbClr val="F0EBD8"/>
                </a:solidFill>
              </a:rPr>
              <a:t> и </a:t>
            </a:r>
            <a:r>
              <a:rPr sz="1400" b="0" i="0" dirty="0" err="1">
                <a:solidFill>
                  <a:srgbClr val="F0EBD8"/>
                </a:solidFill>
              </a:rPr>
              <a:t>разнообразие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слоёв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требуют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комплексной</a:t>
            </a:r>
            <a:r>
              <a:rPr sz="1400" b="0" i="0" dirty="0">
                <a:solidFill>
                  <a:srgbClr val="F0EBD8"/>
                </a:solidFill>
              </a:rPr>
              <a:t> </a:t>
            </a:r>
            <a:r>
              <a:rPr sz="1400" b="0" i="0" dirty="0" err="1">
                <a:solidFill>
                  <a:srgbClr val="F0EBD8"/>
                </a:solidFill>
              </a:rPr>
              <a:t>обработки</a:t>
            </a:r>
            <a:r>
              <a:rPr sz="1400" b="0" i="0" dirty="0">
                <a:solidFill>
                  <a:srgbClr val="F0EBD8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61872"/>
            <a:ext cx="5577840" cy="251460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6172200" y="1261872"/>
            <a:ext cx="5577840" cy="329184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281928" y="1289304"/>
            <a:ext cx="534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121F1A"/>
                </a:solidFill>
              </a:rPr>
              <a:t>Purba</a:t>
            </a:r>
            <a:r>
              <a:rPr sz="1600" b="1" i="0" dirty="0">
                <a:solidFill>
                  <a:srgbClr val="121F1A"/>
                </a:solidFill>
              </a:rPr>
              <a:t> C.O., </a:t>
            </a:r>
            <a:r>
              <a:rPr sz="1600" b="1" i="0" dirty="0" err="1">
                <a:solidFill>
                  <a:srgbClr val="121F1A"/>
                </a:solidFill>
              </a:rPr>
              <a:t>Khoiry</a:t>
            </a:r>
            <a:r>
              <a:rPr sz="1600" b="1" i="0" dirty="0">
                <a:solidFill>
                  <a:srgbClr val="121F1A"/>
                </a:solidFill>
              </a:rPr>
              <a:t> M.A., 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664207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ISPRS Archives · Vol.XLIV-4-W3-2020, P.107–114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011679"/>
            <a:ext cx="53492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Проблема: потери данных при конвертации BIM → ГИС через формат IFC. Метод: сравнительный анализ геометрических и семантических атрибутов до и после трансляции в нескольких программных средах. Результат: выявлены систематические расхождения; предложены рекомендации по контролю качества. Связь с Big Data: критична для интеграции больших BIM/ГИС-массивов.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13631"/>
            <a:ext cx="5577840" cy="251460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365760" y="3913631"/>
            <a:ext cx="5577840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75488" y="3941063"/>
            <a:ext cx="534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F1A"/>
                </a:solidFill>
              </a:rPr>
              <a:t>Abushab A.M. et al.,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315968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IJSRMME · DOI: 10.32628/IJSRMME259224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663440"/>
            <a:ext cx="53492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Проблема: отсутствие системного подхода к пространственному анализу на ранних стадиях проектирования инфраструктуры. Метод: концептуальная модель BIM-driven геопространственной архитектуры — геодизайн + параметрика + цифровой двойник. Результат: итеративный рабочий процесс для адаптивного климатически-устойчивого проектирования. Связь с Big Data: динамичные потоки с большими пространственными массивами.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913631"/>
            <a:ext cx="5577840" cy="251460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6172200" y="3913631"/>
            <a:ext cx="5577840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281928" y="3941063"/>
            <a:ext cx="534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F1A"/>
                </a:solidFill>
              </a:rPr>
              <a:t>Fang Q. et al.,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315968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J. of Management in Engineering · DOI: 10.1061/JMENEA.MEENG-5498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4663440"/>
            <a:ext cx="53492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Проблема: неэффективность традиционных методов управления безопасностью труда. Метод: многоэтапная модель анализа больших данных о небезопасных действиях с учётом ситуационного контекста; персонализированные стратегии управления. Результат: тестирование на 3 стройплощадках показало значимое улучшение безопасности. Связь с Big Data: прямое применение методов Big Data к пространственно-временным данным.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7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61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АНАЛИЗ ИСТОЧНИКОВ: ЗАРУБЕЖНЫЕ И ОТЕЧЕСТВЕННЫЕ (2 /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65992" cy="4572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164592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57784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75488" y="1289304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F1A"/>
                </a:solidFill>
              </a:rPr>
              <a:t>Werner M.,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9343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Frontiers in Big Data · DOI: 10.3389/fdata.2019.00044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20239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Стратегии параллельной обработки геопространственных данных. MapReduce недостаточен — нужны структуры для растров, графов и потоков. Фундамент платформ Big Geospatial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61872"/>
            <a:ext cx="5577840" cy="164592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6172200" y="1261872"/>
            <a:ext cx="557784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281928" y="1289304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F1A"/>
                </a:solidFill>
              </a:rPr>
              <a:t>Liu et al.,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609343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Automation in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920239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Систем. обзор интеграции BIM, IoT, ГИС для мониторинга ресурсов строительства. Пробелы: реальное время, безопасность данных, предиктивные модели, устойчивость.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44952"/>
            <a:ext cx="5577840" cy="164592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365760" y="3044952"/>
            <a:ext cx="5577840" cy="292608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75488" y="3072384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F1A"/>
                </a:solidFill>
              </a:rPr>
              <a:t>Yin H. et al.,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392424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Computational Intelligence &amp; Neuroscience · DOI: 10.1155/2022/6774922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703320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Архитектурная пространственная модель на основе карты Big Data. Иерархическая BVH-фильтрация IFC + glTF. Прямое применение Big Data к большим BIM-моделям.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044952"/>
            <a:ext cx="5577840" cy="164592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6172200" y="3044952"/>
            <a:ext cx="5577840" cy="292608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281928" y="3072384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F1A"/>
                </a:solidFill>
              </a:rPr>
              <a:t>Абрамян С.Г. и др.,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92424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Международный научно-исследовательский журнал · №5(95)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703320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Интеграция BIM и ГИС для экологической безопасности строительства. Совместное моделирование стройгенплана с пространственными экологическими ограничениями местности.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28031"/>
            <a:ext cx="5577840" cy="164592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365760" y="4828031"/>
            <a:ext cx="557784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475488" y="4855464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F1A"/>
                </a:solidFill>
              </a:rPr>
              <a:t>Инновации в жизн. цикле BIM/ГИС,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175503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Строительство и техногенная безопасность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486399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Фрагментарность данных между стадиями и платформами. Единая БД для участников. Практический экспорт BIM-модели здания в ГИС-среду с анализом преимуществ и недостатков.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828031"/>
            <a:ext cx="5577840" cy="164592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6172200" y="4828031"/>
            <a:ext cx="557784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6281928" y="4855464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F1A"/>
                </a:solidFill>
              </a:rPr>
              <a:t>Алгоритм ГИС-изысканий, 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5175503"/>
            <a:ext cx="5349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</a:rPr>
              <a:t>Вестник БрГТУ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5486399"/>
            <a:ext cx="5349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Обработка больших массивов данных бурения (Брестская обл.) через ГИС-инструментарий. Автоматизация пространственного анализа геологических данных — Big Data в предпроектной стадии.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612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ОСНОВНЫЕ ТЕНДЕНЦИИ И ПРОБЕЛЫ В ИССЛЕДОВАНИЯХ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6599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53949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</a:rPr>
              <a:t>📈  Основные тенденции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▸  Интеграция BIM + ГИС как единая среда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166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Переход от изолированного использования к сквозной пространственно-семантической модели объекта на всём жизненном цикле от проектирования до эксплуатации.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▸  IoT-мониторинг и реальное время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Рост значимости потоков от датчиков (позиция рабочих, параметры среды, состояние конструкций) для оперативного управления строительством.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39896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▸  ML и предиктивная аналитика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9935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Применение машинного обучения к журналам событий и траекториям для прогнозирования рисков и оптимизации строительных процессов.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3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▸  Нац. платформы геопространственных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92623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Развитие стандартов и инфраструктур (GB/T, INSPIRE) как фундамента для строительной аналитики на базе больших пространственных данных.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05271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▸  Цифровые двойники строительных объектов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25311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Динамическая цифровая копия объекта на основе BIM+ГИС+IoT с возможностью симуляции и анализа сценариев в реальном времени.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234440"/>
            <a:ext cx="5760720" cy="53949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263640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AF7A"/>
                </a:solidFill>
              </a:rPr>
              <a:t>🔍  Пробелы и нерешённые проблемы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755647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  Динамический мониторинг в реальном времени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057399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Большинство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решений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работают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постфактум</a:t>
            </a:r>
            <a:r>
              <a:rPr sz="1200" b="0" i="0" dirty="0">
                <a:solidFill>
                  <a:srgbClr val="B8CCBE"/>
                </a:solidFill>
              </a:rPr>
              <a:t>. </a:t>
            </a:r>
            <a:r>
              <a:rPr sz="1200" b="0" i="0" dirty="0" err="1">
                <a:solidFill>
                  <a:srgbClr val="B8CCBE"/>
                </a:solidFill>
              </a:rPr>
              <a:t>Зрелых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систем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для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онлайн-анализа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потоков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BIM+IoT+ГИС</a:t>
            </a:r>
            <a:r>
              <a:rPr sz="1200" b="0" i="0" dirty="0">
                <a:solidFill>
                  <a:srgbClr val="B8CCBE"/>
                </a:solidFill>
              </a:rPr>
              <a:t> в </a:t>
            </a:r>
            <a:r>
              <a:rPr sz="1200" b="0" i="0" dirty="0" err="1">
                <a:solidFill>
                  <a:srgbClr val="B8CCBE"/>
                </a:solidFill>
              </a:rPr>
              <a:t>строительстве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пока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нет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96893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⚠  </a:t>
            </a:r>
            <a:r>
              <a:rPr sz="1400" b="1" i="0" dirty="0" err="1">
                <a:solidFill>
                  <a:srgbClr val="FFFFFF"/>
                </a:solidFill>
              </a:rPr>
              <a:t>Стандарты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качества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интеграции</a:t>
            </a:r>
            <a:r>
              <a:rPr sz="1400" b="1" i="0" dirty="0">
                <a:solidFill>
                  <a:srgbClr val="FFFFFF"/>
                </a:solidFill>
              </a:rPr>
              <a:t> BIM↔ГИС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48942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Нет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общепринятых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метрик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контроля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потерь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при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конвертации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геометрических</a:t>
            </a:r>
            <a:r>
              <a:rPr sz="1200" b="0" i="0" dirty="0">
                <a:solidFill>
                  <a:srgbClr val="B8CCBE"/>
                </a:solidFill>
              </a:rPr>
              <a:t> и </a:t>
            </a:r>
            <a:r>
              <a:rPr sz="1200" b="0" i="0" dirty="0" err="1">
                <a:solidFill>
                  <a:srgbClr val="B8CCBE"/>
                </a:solidFill>
              </a:rPr>
              <a:t>семантических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атрибутов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между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форматами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42442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⚠  </a:t>
            </a:r>
            <a:r>
              <a:rPr sz="1400" b="1" i="0" dirty="0" err="1">
                <a:solidFill>
                  <a:srgbClr val="FFFFFF"/>
                </a:solidFill>
              </a:rPr>
              <a:t>Пространственные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модели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поведения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рабочих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3640" y="3739896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Мало исследований, связывающих IoT-траектории с 3D-контекстом BIM для предиктивного управления безопасностью труда.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25652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⚠  </a:t>
            </a:r>
            <a:r>
              <a:rPr sz="1400" b="1" i="0" dirty="0" err="1">
                <a:solidFill>
                  <a:srgbClr val="FFFFFF"/>
                </a:solidFill>
              </a:rPr>
              <a:t>Геология</a:t>
            </a:r>
            <a:r>
              <a:rPr sz="1400" b="1" i="0" dirty="0">
                <a:solidFill>
                  <a:srgbClr val="FFFFFF"/>
                </a:solidFill>
              </a:rPr>
              <a:t> и </a:t>
            </a:r>
            <a:r>
              <a:rPr sz="1400" b="1" i="0" dirty="0" err="1">
                <a:solidFill>
                  <a:srgbClr val="FFFFFF"/>
                </a:solidFill>
              </a:rPr>
              <a:t>изыскания</a:t>
            </a:r>
            <a:r>
              <a:rPr sz="1400" b="1" i="0" dirty="0">
                <a:solidFill>
                  <a:srgbClr val="FFFFFF"/>
                </a:solidFill>
              </a:rPr>
              <a:t> в Big Data-</a:t>
            </a:r>
            <a:r>
              <a:rPr sz="1400" b="1" i="0" dirty="0" err="1">
                <a:solidFill>
                  <a:srgbClr val="FFFFFF"/>
                </a:solidFill>
              </a:rPr>
              <a:t>конвейере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3640" y="4560568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Алгоритмы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обработки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буровых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данных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существуют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изолированно</a:t>
            </a:r>
            <a:r>
              <a:rPr sz="1200" b="0" i="0" dirty="0">
                <a:solidFill>
                  <a:srgbClr val="B8CCBE"/>
                </a:solidFill>
              </a:rPr>
              <a:t> и </a:t>
            </a:r>
            <a:r>
              <a:rPr sz="1200" b="0" i="0" dirty="0" err="1">
                <a:solidFill>
                  <a:srgbClr val="B8CCBE"/>
                </a:solidFill>
              </a:rPr>
              <a:t>не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интегрированы</a:t>
            </a:r>
            <a:r>
              <a:rPr sz="1200" b="0" i="0" dirty="0">
                <a:solidFill>
                  <a:srgbClr val="B8CCBE"/>
                </a:solidFill>
              </a:rPr>
              <a:t> в </a:t>
            </a:r>
            <a:r>
              <a:rPr sz="1200" b="0" i="0" dirty="0" err="1">
                <a:solidFill>
                  <a:srgbClr val="B8CCBE"/>
                </a:solidFill>
              </a:rPr>
              <a:t>сквозные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строительные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платформы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данных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08252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⚠  </a:t>
            </a:r>
            <a:r>
              <a:rPr sz="1400" b="1" i="0" dirty="0" err="1">
                <a:solidFill>
                  <a:srgbClr val="FFFFFF"/>
                </a:solidFill>
              </a:rPr>
              <a:t>Разрыв</a:t>
            </a:r>
            <a:r>
              <a:rPr sz="1400" b="1" i="0" dirty="0">
                <a:solidFill>
                  <a:srgbClr val="FFFFFF"/>
                </a:solidFill>
              </a:rPr>
              <a:t> «</a:t>
            </a:r>
            <a:r>
              <a:rPr sz="1400" b="1" i="0" dirty="0" err="1">
                <a:solidFill>
                  <a:srgbClr val="FFFFFF"/>
                </a:solidFill>
              </a:rPr>
              <a:t>город</a:t>
            </a:r>
            <a:r>
              <a:rPr sz="1400" b="1" i="0" dirty="0">
                <a:solidFill>
                  <a:srgbClr val="FFFFFF"/>
                </a:solidFill>
              </a:rPr>
              <a:t> — </a:t>
            </a:r>
            <a:r>
              <a:rPr sz="1400" b="1" i="0" dirty="0" err="1">
                <a:solidFill>
                  <a:srgbClr val="FFFFFF"/>
                </a:solidFill>
              </a:rPr>
              <a:t>объект</a:t>
            </a:r>
            <a:r>
              <a:rPr sz="1400" b="1" i="0" dirty="0">
                <a:solidFill>
                  <a:srgbClr val="FFFFFF"/>
                </a:solidFill>
              </a:rPr>
              <a:t>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85816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Городская</a:t>
            </a:r>
            <a:r>
              <a:rPr sz="1200" b="0" i="0" dirty="0">
                <a:solidFill>
                  <a:srgbClr val="B8CCBE"/>
                </a:solidFill>
              </a:rPr>
              <a:t> Big Data-</a:t>
            </a:r>
            <a:r>
              <a:rPr sz="1200" b="0" i="0" dirty="0" err="1">
                <a:solidFill>
                  <a:srgbClr val="B8CCBE"/>
                </a:solidFill>
              </a:rPr>
              <a:t>аналитика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агломераций</a:t>
            </a:r>
            <a:r>
              <a:rPr sz="1200" b="0" i="0" dirty="0">
                <a:solidFill>
                  <a:srgbClr val="B8CCBE"/>
                </a:solidFill>
              </a:rPr>
              <a:t> и </a:t>
            </a:r>
            <a:r>
              <a:rPr sz="1200" b="0" i="0" dirty="0" err="1">
                <a:solidFill>
                  <a:srgbClr val="B8CCBE"/>
                </a:solidFill>
              </a:rPr>
              <a:t>мобильности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плохо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стыкуется</a:t>
            </a:r>
            <a:r>
              <a:rPr sz="1200" b="0" i="0" dirty="0">
                <a:solidFill>
                  <a:srgbClr val="B8CCBE"/>
                </a:solidFill>
              </a:rPr>
              <a:t> с </a:t>
            </a:r>
            <a:r>
              <a:rPr sz="1200" b="0" i="0" dirty="0" err="1">
                <a:solidFill>
                  <a:srgbClr val="B8CCBE"/>
                </a:solidFill>
              </a:rPr>
              <a:t>уровнем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конкретной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стройплощадки</a:t>
            </a:r>
            <a:r>
              <a:rPr sz="1200" b="0" i="0" dirty="0">
                <a:solidFill>
                  <a:srgbClr val="B8CCBE"/>
                </a:solidFill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907023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⚠  </a:t>
            </a:r>
            <a:r>
              <a:rPr sz="1400" b="1" i="0" dirty="0" err="1">
                <a:solidFill>
                  <a:srgbClr val="FFFFFF"/>
                </a:solidFill>
              </a:rPr>
              <a:t>Экологическая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безопасность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строительства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6204713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8CCBE"/>
                </a:solidFill>
              </a:rPr>
              <a:t>Нет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метрик</a:t>
            </a:r>
            <a:r>
              <a:rPr sz="1200" b="0" i="0" dirty="0">
                <a:solidFill>
                  <a:srgbClr val="B8CCBE"/>
                </a:solidFill>
              </a:rPr>
              <a:t> и </a:t>
            </a:r>
            <a:r>
              <a:rPr sz="1200" b="0" i="0" dirty="0" err="1">
                <a:solidFill>
                  <a:srgbClr val="B8CCBE"/>
                </a:solidFill>
              </a:rPr>
              <a:t>моделей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оценки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эковоздействия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строительства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на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основе</a:t>
            </a:r>
            <a:r>
              <a:rPr sz="1200" b="0" i="0" dirty="0">
                <a:solidFill>
                  <a:srgbClr val="B8CCBE"/>
                </a:solidFill>
              </a:rPr>
              <a:t> </a:t>
            </a:r>
            <a:r>
              <a:rPr sz="1200" b="0" i="0" dirty="0" err="1">
                <a:solidFill>
                  <a:srgbClr val="B8CCBE"/>
                </a:solidFill>
              </a:rPr>
              <a:t>интегрированных</a:t>
            </a:r>
            <a:r>
              <a:rPr sz="1200" b="0" i="0" dirty="0">
                <a:solidFill>
                  <a:srgbClr val="B8CCBE"/>
                </a:solidFill>
              </a:rPr>
              <a:t> BIM/ГИС/Big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612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УЗКАЯ ТЕМА И ЗАДАЧИ АНАЛИЗА БОЛЬШИХ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6599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86868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Узкая тема: «Пространственно-временной анализ небезопасного поведения рабочих на строительной площадке на основе интеграции BIM/ГИС и потоков IoT-датчиков»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7A"/>
                </a:solidFill>
              </a:rPr>
              <a:t>Исследовательский вопрос: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775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D8"/>
                </a:solidFill>
              </a:rPr>
              <a:t>Как интеграция больших пространственно-временных данных (траектории рабочих и техники, события IoT-датчиков, BIM-модель и ГИС-план площадки) влияет на точность выявления и прогнозирования небезопасного поведения рабочих на строительной площадке?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29000"/>
            <a:ext cx="3657600" cy="315468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3657600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75488" y="3447288"/>
            <a:ext cx="342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F1A"/>
                </a:solidFill>
              </a:rPr>
              <a:t>Задача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40480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Пространственно-временная модель движения рабочих и техники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407408"/>
            <a:ext cx="342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D8"/>
                </a:solidFill>
              </a:rPr>
              <a:t>Объединить данные RFID/UWB/GNSS-локализации с BIM (IFC) и ГИС-стройгенпланом. Разработать ETL-процесс для агрегации траекторий, фильтрации шумов и построения тепловых карт по зонам и временным интервалам.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687568"/>
            <a:ext cx="3429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8CCBE"/>
                </a:solidFill>
              </a:rPr>
              <a:t>Данные: потоки координат (x,y,z,t), IFC-модель, ГИС-слои зон
опасности, дорог, складов. Объём: млн записей/смена.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7" y="3429000"/>
            <a:ext cx="3657600" cy="315468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4133087" y="3429000"/>
            <a:ext cx="3657600" cy="329184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242816" y="3447288"/>
            <a:ext cx="342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F1A"/>
                </a:solidFill>
              </a:rPr>
              <a:t>Задача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3840480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Выявление паттернов небезопасного поведения (ML-классификация)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407408"/>
            <a:ext cx="342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D8"/>
                </a:solidFill>
              </a:rPr>
              <a:t>Применить кластеризацию траекторий и классификацию к размеченным данным о нарушениях (пересечение опасных зон, конфликты маршрутов, отсутствие СИЗ). Учесть пространственный контекст BIM и текущую фазу работ из 4D-плана.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5687568"/>
            <a:ext cx="3429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8CCBE"/>
                </a:solidFill>
              </a:rPr>
              <a:t>Данные: траектории, журналы инцидентов, видеоаналитика,
4D BIM-план. Метки: безопасно / риск.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429000"/>
            <a:ext cx="3657600" cy="315468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ectangle 23"/>
          <p:cNvSpPr/>
          <p:nvPr/>
        </p:nvSpPr>
        <p:spPr>
          <a:xfrm>
            <a:off x="7909560" y="3429000"/>
            <a:ext cx="3657600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8019288" y="3447288"/>
            <a:ext cx="342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F1A"/>
                </a:solidFill>
              </a:rPr>
              <a:t>Задача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3840480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Прогнозирование риска и выдача управленческих рекомендаций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4407408"/>
            <a:ext cx="342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D8"/>
                </a:solidFill>
              </a:rPr>
              <a:t>Построить предиктивную модель вероятности небезопасного поведения на основе агрегированных признаков: нагрузка на зоны, плотность траекторий, конфликты маршрутов, плановые операции. Выдавать рекомендации по оптимизации стройгенплана.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5687568"/>
            <a:ext cx="3429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8CCBE"/>
                </a:solidFill>
              </a:rPr>
              <a:t>Данные: признаки из задач 1–2, график BIM/4D, внешние ГИС-
факторы (погода, ограничения). Выход: карта риска.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7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612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ВЫВОДЫ И СПИСОК ИСПОЛЬЗОВАННЫХ ИСТОЧНИКОВ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65992" cy="4572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53949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AF7A"/>
                </a:solidFill>
              </a:rPr>
              <a:t>Ключевые выводы по работе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BIM + ГИС + IoT = Big Spatial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166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Именно интеграция трёх технологий формирует экосистему больших пространственных данных в строительстве, перекрывая все характеристики 5V.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Главный пробел подтверждён литературой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16 источников единодушно указывают на отсутствие интегрированных пространственно-временных моделей безопасности в реальном времени.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39896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Узкая тема практически значима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9935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Тема напрямую связана со снижением травматизма и оптимизацией логистики строительной площадки — актуальный запрос отрасли.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3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Потенциал ML и цифровых двойников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92623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Задачи кластеризации траекторий и прогнозирования риска хорошо ложатся на методы глубокого обучения и графовых нейросетей.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05271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Масштабируемость подхода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25311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CBE"/>
                </a:solidFill>
              </a:rPr>
              <a:t>Методология применима не только к безопасности, но и к ресурсной логистике, экологическому контролю и управлению качеством работ.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234440"/>
            <a:ext cx="5852160" cy="5394960"/>
          </a:xfrm>
          <a:prstGeom prst="rect">
            <a:avLst/>
          </a:prstGeom>
          <a:solidFill>
            <a:srgbClr val="1E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172200" y="1389888"/>
            <a:ext cx="5623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</a:rPr>
              <a:t>Список</a:t>
            </a:r>
            <a:r>
              <a:rPr sz="1400" b="1" i="0" dirty="0">
                <a:solidFill>
                  <a:srgbClr val="C9A84C"/>
                </a:solidFill>
              </a:rPr>
              <a:t> </a:t>
            </a:r>
            <a:r>
              <a:rPr sz="1400" b="1" i="0" dirty="0" err="1">
                <a:solidFill>
                  <a:srgbClr val="C9A84C"/>
                </a:solidFill>
              </a:rPr>
              <a:t>источников</a:t>
            </a:r>
            <a:r>
              <a:rPr sz="1400" b="1" i="0" dirty="0">
                <a:solidFill>
                  <a:srgbClr val="C9A84C"/>
                </a:solidFill>
              </a:rPr>
              <a:t> (2019–2025)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632094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1.  Zawada K. et al. Acta Sci. Pol. Architectura,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946647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2.  Purba C.O., Khoiry M.A. ISPRS Archives, 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261201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3.  Abushab A.M. et al. IJSRMME,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575754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4.  Fang Q. et al. J. Management in Engineering,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89030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5.  Werner M. Frontiers in Big Data,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204861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6.  Liu et al. Automation in Construction,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519415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7.  Yin H. et al. Comp. Intelligence &amp; Neuroscience,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833969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8.  Li H. et al. ISPRS Archives,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148522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9.  Bielecki M. et al. Geomatics &amp; Env. Engineering,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463076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10. Абрамян С.Г. и др. МНИ журнал,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777630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11. Инновации BIM/ГИС. Стр-во и техноген. безоп.,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092183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12. Алгоритм ГИС-изысканий. Вестник БрГТУ,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406737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13. Пространств. данные в градостроит. Геод. и картогр.,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721290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14. Пространств. анализ городов. ScienceIT, 2021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6035844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0EBD8"/>
                </a:solidFill>
              </a:rPr>
              <a:t>15. </a:t>
            </a:r>
            <a:r>
              <a:rPr sz="1100" b="0" i="0" dirty="0" err="1">
                <a:solidFill>
                  <a:srgbClr val="F0EBD8"/>
                </a:solidFill>
              </a:rPr>
              <a:t>Проблемы</a:t>
            </a:r>
            <a:r>
              <a:rPr sz="1100" b="0" i="0" dirty="0">
                <a:solidFill>
                  <a:srgbClr val="F0EBD8"/>
                </a:solidFill>
              </a:rPr>
              <a:t> </a:t>
            </a:r>
            <a:r>
              <a:rPr sz="1100" b="0" i="0" dirty="0" err="1">
                <a:solidFill>
                  <a:srgbClr val="F0EBD8"/>
                </a:solidFill>
              </a:rPr>
              <a:t>обработки</a:t>
            </a:r>
            <a:r>
              <a:rPr sz="1100" b="0" i="0" dirty="0">
                <a:solidFill>
                  <a:srgbClr val="F0EBD8"/>
                </a:solidFill>
              </a:rPr>
              <a:t> БПД. </a:t>
            </a:r>
            <a:r>
              <a:rPr sz="1100" b="0" i="0" dirty="0" err="1">
                <a:solidFill>
                  <a:srgbClr val="F0EBD8"/>
                </a:solidFill>
              </a:rPr>
              <a:t>Геод</a:t>
            </a:r>
            <a:r>
              <a:rPr sz="1100" b="0" i="0" dirty="0">
                <a:solidFill>
                  <a:srgbClr val="F0EBD8"/>
                </a:solidFill>
              </a:rPr>
              <a:t>. и </a:t>
            </a:r>
            <a:r>
              <a:rPr sz="1100" b="0" i="0" dirty="0" err="1">
                <a:solidFill>
                  <a:srgbClr val="F0EBD8"/>
                </a:solidFill>
              </a:rPr>
              <a:t>картогр</a:t>
            </a:r>
            <a:r>
              <a:rPr sz="1100" b="0" i="0" dirty="0">
                <a:solidFill>
                  <a:srgbClr val="F0EBD8"/>
                </a:solidFill>
              </a:rPr>
              <a:t>.,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635039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BD8"/>
                </a:solidFill>
              </a:rPr>
              <a:t>16. Большие данные в строительстве. Habr,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9CDCCC95-8CC3-43A6-9DDF-08C091BAD69B}" vid="{3650A4CF-E097-426C-B9BA-C90EB23F8F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</TotalTime>
  <Words>1696</Words>
  <Application>Microsoft Office PowerPoint</Application>
  <PresentationFormat>Произвольный</PresentationFormat>
  <Paragraphs>131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</dc:creator>
  <cp:keywords/>
  <dc:description>generated using python-pptx</dc:description>
  <cp:lastModifiedBy>Rafael</cp:lastModifiedBy>
  <cp:revision>2</cp:revision>
  <dcterms:created xsi:type="dcterms:W3CDTF">2013-01-27T09:14:16Z</dcterms:created>
  <dcterms:modified xsi:type="dcterms:W3CDTF">2026-04-18T08:21:18Z</dcterms:modified>
  <cp:category/>
</cp:coreProperties>
</file>