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31352" y="0"/>
            <a:ext cx="3657600" cy="68580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Big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8BDF8"/>
                </a:solidFill>
                <a:latin typeface="Calibri"/>
              </a:rPr>
              <a:t>Storage · Processing · </a:t>
            </a:r>
            <a:r>
              <a:rPr sz="1800">
                <a:solidFill>
                  <a:srgbClr val="818CF8"/>
                </a:solidFill>
                <a:latin typeface="Calibri"/>
              </a:rPr>
              <a:t>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7772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94A3B8"/>
                </a:solidFill>
                <a:latin typeface="Calibri"/>
              </a:rPr>
              <a:t>A</a:t>
            </a:r>
            <a:r>
              <a:rPr lang="en-US" sz="1300" b="0" i="1" dirty="0">
                <a:solidFill>
                  <a:srgbClr val="94A3B8"/>
                </a:solidFill>
                <a:latin typeface="Calibri"/>
              </a:rPr>
              <a:t> </a:t>
            </a:r>
            <a:r>
              <a:rPr sz="1300" b="0" i="1" dirty="0">
                <a:solidFill>
                  <a:srgbClr val="94A3B8"/>
                </a:solidFill>
                <a:latin typeface="Calibri"/>
              </a:rPr>
              <a:t>review of Big Data, </a:t>
            </a:r>
            <a:r>
              <a:rPr lang="en-US" sz="1300" b="0" i="1" dirty="0">
                <a:solidFill>
                  <a:srgbClr val="94A3B8"/>
                </a:solidFill>
                <a:latin typeface="Calibri"/>
              </a:rPr>
              <a:t>its </a:t>
            </a:r>
            <a:r>
              <a:rPr sz="1300" b="0" i="1" dirty="0">
                <a:solidFill>
                  <a:srgbClr val="94A3B8"/>
                </a:solidFill>
                <a:latin typeface="Calibri"/>
              </a:rPr>
              <a:t>methodologies,</a:t>
            </a:r>
            <a:r>
              <a:rPr lang="en-US" sz="1300" b="0" i="1" dirty="0">
                <a:solidFill>
                  <a:srgbClr val="94A3B8"/>
                </a:solidFill>
                <a:latin typeface="Calibri"/>
              </a:rPr>
              <a:t> and </a:t>
            </a:r>
            <a:r>
              <a:rPr sz="1300" b="0" i="1" dirty="0">
                <a:solidFill>
                  <a:srgbClr val="94A3B8"/>
                </a:solidFill>
                <a:latin typeface="Calibri"/>
              </a:rPr>
              <a:t>impact
on organizational decision-making and modern technological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1 / 6</a:t>
            </a:r>
          </a:p>
        </p:txBody>
      </p:sp>
      <p:sp>
        <p:nvSpPr>
          <p:cNvPr id="10" name="AutoShape 4" descr="How Big Data and AI Work Together: Synergies &amp; Benefits">
            <a:extLst>
              <a:ext uri="{FF2B5EF4-FFF2-40B4-BE49-F238E27FC236}">
                <a16:creationId xmlns:a16="http://schemas.microsoft.com/office/drawing/2014/main" id="{49B37C40-836F-CE61-F7CC-1504DB0CFB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82274A-2A6B-58EC-7CA5-9110F5C6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92" y="54864"/>
            <a:ext cx="6259433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 Light"/>
              </a:rPr>
              <a:t>What Is Big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4A3B8"/>
                </a:solidFill>
                <a:latin typeface="Calibri"/>
              </a:rPr>
              <a:t>Datasets that exceed the capabilities of conventional database management tools. They require new technical architectures and analytical instruments to extract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38BDF8"/>
                </a:solidFill>
                <a:latin typeface="Calibri"/>
              </a:rPr>
              <a:t>Volume</a:t>
            </a:r>
            <a:endParaRPr sz="1800" b="1" i="0" dirty="0">
              <a:solidFill>
                <a:srgbClr val="38BDF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EE"/>
                </a:solidFill>
                <a:latin typeface="Calibri"/>
              </a:rPr>
              <a:t>Massive amounts of data measured in terabytes and petabytes: transaction logs, click streams, sensor measurements, images, and historical records accumulated over years of business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818CF8"/>
                </a:solidFill>
                <a:latin typeface="Calibri"/>
              </a:rPr>
              <a:t>Velocity</a:t>
            </a:r>
            <a:endParaRPr sz="1800" b="1" i="0" dirty="0">
              <a:solidFill>
                <a:srgbClr val="818CF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200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EE"/>
                </a:solidFill>
                <a:latin typeface="Calibri"/>
              </a:rPr>
              <a:t>High-speed generation and ingestion of data in real-time or near real-time, such as financial transactions or IoT events, demanding continuous streaming pipelines and low-latency processing.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34D399"/>
                </a:solidFill>
                <a:latin typeface="Calibri"/>
              </a:rPr>
              <a:t>Variety</a:t>
            </a:r>
            <a:endParaRPr sz="1800" b="1" i="0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200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EE"/>
                </a:solidFill>
                <a:latin typeface="Calibri"/>
              </a:rPr>
              <a:t>Diverse data types and formats: structured tables, semi-structured XML and JSON, and unstructured text, audio, video, and social media content originating from many independent sources.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A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217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💡  Together, these three characteristics form the classic 3Vs model. Hadoop is the leading open-source platform to address these challenges, scaling from a single server to thousands of machines with built-in fault tolerance.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 Light"/>
              </a:rPr>
              <a:t>Storage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Calibri"/>
              </a:rPr>
              <a:t>Traditional relational databases and data warehouses are poorly suited for dynamic, weakly structured data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64008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9903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Relational Databases / 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64792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Enterprise data warehouses typically accept only cleansed, well-structured data and require heavy ETL (Extract, Transform, Load) work up front, discarding potentially valuable raw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64008" cy="1143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3347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818CF8"/>
                </a:solidFill>
                <a:latin typeface="Calibri"/>
              </a:rPr>
              <a:t>Magnetic Storage (Big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9232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In a Big Data setting, storage must be 'magnetic' — able to attract and retain any data source regardless of its quality or structure, postponing transformation closer to the analytics phase.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64008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6791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4D399"/>
                </a:solidFill>
                <a:latin typeface="Calibri"/>
              </a:rPr>
              <a:t>Agile</a:t>
            </a:r>
            <a:r>
              <a:rPr sz="1400" b="1" i="0" dirty="0">
                <a:solidFill>
                  <a:srgbClr val="34D399"/>
                </a:solidFill>
                <a:latin typeface="Calibri"/>
              </a:rPr>
              <a:t> </a:t>
            </a:r>
            <a:r>
              <a:rPr b="1" i="0" dirty="0">
                <a:solidFill>
                  <a:srgbClr val="34D399"/>
                </a:solidFill>
                <a:latin typeface="Calibri"/>
              </a:rPr>
              <a:t>Analytics</a:t>
            </a:r>
            <a:endParaRPr sz="1400" b="1" i="0" dirty="0">
              <a:solidFill>
                <a:srgbClr val="34D39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4233672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Iterative, real-time analysis enables organizations to combine historical, operational, and external data, discovering patterns on-the-fly without heavy, restrictive pre-processing routines.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64008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9379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0235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BBF24"/>
                </a:solidFill>
                <a:latin typeface="Calibri"/>
              </a:rPr>
              <a:t>HDFS — Hadoop Distributed File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68112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A distributed file system designed to run on commodity hardware, providing high throughput access to application data with built-in fault tolerance and replication across </a:t>
            </a:r>
            <a:r>
              <a:rPr sz="1600" b="0" i="0" dirty="0" err="1">
                <a:solidFill>
                  <a:srgbClr val="CCDDEE"/>
                </a:solidFill>
                <a:latin typeface="Calibri"/>
              </a:rPr>
              <a:t>DataNodes</a:t>
            </a:r>
            <a:r>
              <a:rPr sz="1600" b="0" i="0" dirty="0">
                <a:solidFill>
                  <a:srgbClr val="CCDDEE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Analytical Processing: MapReduce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4A3B8"/>
                </a:solidFill>
                <a:latin typeface="Calibri"/>
              </a:rPr>
              <a:t>Once data is stored in a distributed environment, analytics must meet four core processing requirements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BBF24"/>
                </a:solidFill>
                <a:latin typeface="Calibri"/>
              </a:rPr>
              <a:t>Fast Data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Rapid data loading must be achieved to minimize interference and resource conflicts between heavy ingestion traffic and simultaneous user analytical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0020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BBF24"/>
                </a:solidFill>
                <a:latin typeface="Calibri"/>
              </a:rPr>
              <a:t>Fast Query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Low-latency query processing is essential to ensure that analytical workloads and ad-hoc requests from decision-makers are answered in an acceptable time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BBF24"/>
                </a:solidFill>
                <a:latin typeface="Calibri"/>
              </a:rPr>
              <a:t>Storage Space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Highly efficient use of disk space through columnar formats and data compression is required to keep storage scalable as user activity rapidly grows.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033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84048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BBF24"/>
                </a:solidFill>
                <a:latin typeface="Calibri"/>
              </a:rPr>
              <a:t>Dynamic Workload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Processing frameworks must adapt to very dynamic, unpredictable workload patterns and heterogeneous applications accessing the same datasets for different goals.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A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23620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8BDF8"/>
                </a:solidFill>
                <a:latin typeface="Calibri"/>
              </a:rPr>
              <a:t>MapReduce flow:  Input Data  →  Map (split into key-value pairs)  →  Shuffle  →  Reduce (aggregate across nodes)  →  Final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 Light"/>
              </a:rPr>
              <a:t>Big Data &amp;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94A3B8"/>
                </a:solidFill>
                <a:latin typeface="Calibri"/>
              </a:rPr>
              <a:t>The real value of big data emerges when analytics supports each step of the managerial decision-making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38BDF8"/>
                </a:solidFill>
                <a:latin typeface="Calibri"/>
              </a:rPr>
              <a:t>Decision-Making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3794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78308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Intelligence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03120"/>
            <a:ext cx="4663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DEE"/>
                </a:solidFill>
                <a:latin typeface="Calibri"/>
              </a:rPr>
              <a:t>Organizations collect internal and external data to reveal problems and opportunities. Large, heterogeneous data sources (IoT, social media, transactions) must be identified, acquired, stored, and delivered.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39"/>
            <a:ext cx="438912" cy="43891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346703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91839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Design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11879"/>
            <a:ext cx="4663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DEE"/>
                </a:solidFill>
                <a:latin typeface="Calibri"/>
              </a:rPr>
              <a:t>Models are built and evaluated using historical and real-time data. Decision makers simulate alternative scenarios and quantify risks based on evidence rather than intuition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438912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855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80060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Choice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120640"/>
            <a:ext cx="4663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DEE"/>
                </a:solidFill>
                <a:latin typeface="Calibri"/>
              </a:rPr>
              <a:t>The selected analytical model is implemented, evaluated, and deployed. Insights are translated into concrete, data-driven managerial actions and strategies.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71600"/>
            <a:ext cx="18288" cy="5029200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13716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18CF8"/>
                </a:solidFill>
                <a:latin typeface="Calibri"/>
              </a:rPr>
              <a:t>Application Domains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783080"/>
            <a:ext cx="54864" cy="1188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828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78308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87171"/>
                </a:solidFill>
                <a:latin typeface="Calibri"/>
              </a:rPr>
              <a:t>Risk Management &amp; Fraud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4937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DEE"/>
                </a:solidFill>
                <a:latin typeface="Calibri"/>
              </a:rPr>
              <a:t>In finance and public sectors, analytics assesses risk and detects fraud by correlating many weak signals across millions of events to reduce massive financial losses.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91839"/>
            <a:ext cx="54864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33375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9183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BBF24"/>
                </a:solidFill>
                <a:latin typeface="Calibri"/>
              </a:rPr>
              <a:t>Quality &amp; 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11879"/>
            <a:ext cx="4937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DDEE"/>
                </a:solidFill>
                <a:latin typeface="Calibri"/>
              </a:rPr>
              <a:t>In manufacturing, energy, and telecom, predictive analytics improves product quality, detects early signs of anomalies, and significantly reduces scrap rates and downtime.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800600"/>
            <a:ext cx="54864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4846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0060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4D399"/>
                </a:solidFill>
                <a:latin typeface="Calibri"/>
              </a:rPr>
              <a:t>Climate &amp; Natural Disasters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120640"/>
            <a:ext cx="4937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EE"/>
                </a:solidFill>
                <a:latin typeface="Calibri"/>
              </a:rPr>
              <a:t>Sensors and advanced analytical tools power long-term climate models and close-range weather predictions, allowing businesses and governments to plan preventive actions.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0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 Light"/>
              </a:rPr>
              <a:t>Conclusions &amp; Future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12848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Big data analytics enables organizations to discover hidden patterns and actionable knowledge in high-volume, high-velocity, and high-variety datasets, turning them into concrete business advantages.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Properly implemented analytics provides a significant competitive advantage across all industries, improving supply chains, industrial processes, and our understanding of consumption habits.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Big data multiplies classical data management challenges — storage, governance, integration, and cleansing — because tasks must now run at massive scales under strict time pressure.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54864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681728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Future research must focus on comprehensive roadmaps and architectures integrating data collection, storage, processing, and visualization into coherent decision-support platforms.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54864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596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04688"/>
            <a:ext cx="6583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When implemented properly, Big Data Analytics becomes a key enabler of scientific, technological, and societal innovation across finance, industry, healthcare, and public services.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  <p:pic>
        <p:nvPicPr>
          <p:cNvPr id="23" name="Рисунок 22" descr="Изображение выглядит как текст, снимок экрана, меню&#10;&#10;Автоматически созданное описание">
            <a:extLst>
              <a:ext uri="{FF2B5EF4-FFF2-40B4-BE49-F238E27FC236}">
                <a16:creationId xmlns:a16="http://schemas.microsoft.com/office/drawing/2014/main" id="{0AF44712-1188-818B-F5BE-B10CF6D5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52" y="54864"/>
            <a:ext cx="4533773" cy="6803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890</Words>
  <Application>Microsoft Office PowerPoint</Application>
  <PresentationFormat>Произвольный</PresentationFormat>
  <Paragraphs>85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</dc:creator>
  <cp:keywords/>
  <dc:description>generated using python-pptx</dc:description>
  <cp:lastModifiedBy>Rafael</cp:lastModifiedBy>
  <cp:revision>2</cp:revision>
  <dcterms:created xsi:type="dcterms:W3CDTF">2013-01-27T09:14:16Z</dcterms:created>
  <dcterms:modified xsi:type="dcterms:W3CDTF">2026-04-16T08:44:10Z</dcterms:modified>
  <cp:category/>
</cp:coreProperties>
</file>