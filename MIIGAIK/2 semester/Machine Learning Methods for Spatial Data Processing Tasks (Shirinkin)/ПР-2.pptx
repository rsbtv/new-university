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0" r:id="rId1"/>
  </p:sldMasterIdLst>
  <p:notesMasterIdLst>
    <p:notesMasterId r:id="rId17"/>
  </p:notesMasterIdLst>
  <p:sldIdLst>
    <p:sldId id="273" r:id="rId2"/>
    <p:sldId id="291" r:id="rId3"/>
    <p:sldId id="288" r:id="rId4"/>
    <p:sldId id="289" r:id="rId5"/>
    <p:sldId id="290" r:id="rId6"/>
    <p:sldId id="286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69" r:id="rId16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2"/>
    <a:srgbClr val="0F2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3766" autoAdjust="0"/>
  </p:normalViewPr>
  <p:slideViewPr>
    <p:cSldViewPr snapToGrid="0" snapToObjects="1">
      <p:cViewPr>
        <p:scale>
          <a:sx n="66" d="100"/>
          <a:sy n="66" d="100"/>
        </p:scale>
        <p:origin x="178" y="-4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2" d="100"/>
          <a:sy n="122" d="100"/>
        </p:scale>
        <p:origin x="4016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243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5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19825F-9503-B044-981B-2098979D276D}"/>
              </a:ext>
            </a:extLst>
          </p:cNvPr>
          <p:cNvSpPr/>
          <p:nvPr userDrawn="1"/>
        </p:nvSpPr>
        <p:spPr>
          <a:xfrm>
            <a:off x="0" y="1889381"/>
            <a:ext cx="12193588" cy="2450107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4DC2ADE-5AF9-3B4E-92C9-994574D9C64F}"/>
              </a:ext>
            </a:extLst>
          </p:cNvPr>
          <p:cNvSpPr/>
          <p:nvPr userDrawn="1"/>
        </p:nvSpPr>
        <p:spPr>
          <a:xfrm>
            <a:off x="0" y="4"/>
            <a:ext cx="12193588" cy="1867145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43FD077-7D94-044D-B50C-CB09284C7833}"/>
              </a:ext>
            </a:extLst>
          </p:cNvPr>
          <p:cNvSpPr/>
          <p:nvPr userDrawn="1"/>
        </p:nvSpPr>
        <p:spPr>
          <a:xfrm>
            <a:off x="0" y="4361725"/>
            <a:ext cx="12193588" cy="2496279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BEC2C8E-AFE9-8E44-BF51-53CE5A7C6CF2}"/>
              </a:ext>
            </a:extLst>
          </p:cNvPr>
          <p:cNvSpPr/>
          <p:nvPr userDrawn="1"/>
        </p:nvSpPr>
        <p:spPr>
          <a:xfrm>
            <a:off x="334963" y="728663"/>
            <a:ext cx="11523662" cy="540067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96B875E-FEDF-0C4B-8FB6-4510D4AB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871" y="940405"/>
            <a:ext cx="2354654" cy="698544"/>
          </a:xfrm>
          <a:prstGeom prst="rect">
            <a:avLst/>
          </a:prstGeom>
        </p:spPr>
      </p:pic>
      <p:sp>
        <p:nvSpPr>
          <p:cNvPr id="31" name="Заголовок 21">
            <a:extLst>
              <a:ext uri="{FF2B5EF4-FFF2-40B4-BE49-F238E27FC236}">
                <a16:creationId xmlns:a16="http://schemas.microsoft.com/office/drawing/2014/main" id="{EF8917B0-871C-4442-88F5-316C4007E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871" y="1889380"/>
            <a:ext cx="9285068" cy="2450107"/>
          </a:xfrm>
          <a:prstGeom prst="rect">
            <a:avLst/>
          </a:prstGeom>
        </p:spPr>
        <p:txBody>
          <a:bodyPr anchor="ctr"/>
          <a:lstStyle>
            <a:lvl1pPr algn="just">
              <a:defRPr lang="ru-RU" sz="4400" b="1" i="0" u="none" strike="noStrike" cap="none" dirty="0">
                <a:solidFill>
                  <a:srgbClr val="000072"/>
                </a:solidFill>
                <a:latin typeface="+mj-lt"/>
                <a:ea typeface="NanumGothic" panose="020D0604000000000000" pitchFamily="34" charset="-127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презентации</a:t>
            </a:r>
            <a:br>
              <a:rPr lang="ru-RU" dirty="0"/>
            </a:br>
            <a:r>
              <a:rPr lang="ru-RU" dirty="0"/>
              <a:t>может </a:t>
            </a:r>
            <a:r>
              <a:rPr lang="ru-RU"/>
              <a:t>быть набрано </a:t>
            </a:r>
            <a:r>
              <a:rPr lang="ru-RU" dirty="0"/>
              <a:t>в две или три строки 4</a:t>
            </a:r>
            <a:r>
              <a:rPr lang="en-US" dirty="0"/>
              <a:t>4(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891E51F-E866-D546-B6A9-1BD4DA5C6D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4088" y="4444146"/>
            <a:ext cx="5149850" cy="624000"/>
          </a:xfrm>
          <a:prstGeom prst="rect">
            <a:avLst/>
          </a:prstGeom>
        </p:spPr>
        <p:txBody>
          <a:bodyPr anchor="ctr"/>
          <a:lstStyle>
            <a:lvl1pPr marL="0" algn="r" defTabSz="163196">
              <a:defRPr lang="ru-RU" sz="2133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ФИО студента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339F111-DB0F-A348-A1CD-BF940F9FF0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4088" y="5288803"/>
            <a:ext cx="5149850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ФИО, степень, должность научного руководителя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EFBEE518-6B50-F844-928B-87CCA4A592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5463" y="1036389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2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факультета, две или три строки (1</a:t>
            </a:r>
            <a:r>
              <a:rPr lang="en-US" dirty="0"/>
              <a:t>2</a:t>
            </a:r>
            <a:r>
              <a:rPr lang="ru-RU" dirty="0" err="1"/>
              <a:t>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53F67DD-344B-724B-B22E-CB70D6A4BA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539" y="1036389"/>
            <a:ext cx="2509411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2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</a:t>
            </a:r>
            <a:r>
              <a:rPr lang="en-US" dirty="0"/>
              <a:t>, </a:t>
            </a:r>
            <a:r>
              <a:rPr lang="ru-RU" dirty="0"/>
              <a:t>две или три строки (12p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9C6815FB-3A4B-8441-833A-FBD36ADFB2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13938" y="1036389"/>
            <a:ext cx="1954638" cy="624000"/>
          </a:xfrm>
          <a:prstGeom prst="rect">
            <a:avLst/>
          </a:prstGeom>
        </p:spPr>
        <p:txBody>
          <a:bodyPr anchor="ctr"/>
          <a:lstStyle>
            <a:lvl1pPr marL="0" algn="ctr" defTabSz="163196">
              <a:defRPr lang="ru-RU" sz="14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Москва 2024</a:t>
            </a:r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1FAB76A5-C756-F242-AA9E-906BC7570A93}"/>
              </a:ext>
            </a:extLst>
          </p:cNvPr>
          <p:cNvCxnSpPr>
            <a:cxnSpLocks/>
          </p:cNvCxnSpPr>
          <p:nvPr userDrawn="1"/>
        </p:nvCxnSpPr>
        <p:spPr>
          <a:xfrm>
            <a:off x="3584925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429F97E-7D48-4542-9588-34842334FC34}"/>
              </a:ext>
            </a:extLst>
          </p:cNvPr>
          <p:cNvCxnSpPr>
            <a:cxnSpLocks/>
          </p:cNvCxnSpPr>
          <p:nvPr userDrawn="1"/>
        </p:nvCxnSpPr>
        <p:spPr>
          <a:xfrm>
            <a:off x="6101474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F022A0-9E20-E243-B708-1F0C08162C17}"/>
              </a:ext>
            </a:extLst>
          </p:cNvPr>
          <p:cNvCxnSpPr>
            <a:cxnSpLocks/>
          </p:cNvCxnSpPr>
          <p:nvPr userDrawn="1"/>
        </p:nvCxnSpPr>
        <p:spPr>
          <a:xfrm>
            <a:off x="9900083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5DC3A9B-F2B3-A84A-8290-8F7743FFC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3858" y="5297864"/>
            <a:ext cx="882036" cy="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5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26">
            <a:extLst>
              <a:ext uri="{FF2B5EF4-FFF2-40B4-BE49-F238E27FC236}">
                <a16:creationId xmlns:a16="http://schemas.microsoft.com/office/drawing/2014/main" id="{9C2D777F-AB00-EE48-9117-B35629EF1C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720975"/>
            <a:ext cx="5689601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Небольшие куски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87484" y="1339850"/>
            <a:ext cx="4968874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0" name="Заголовок 24">
            <a:extLst>
              <a:ext uri="{FF2B5EF4-FFF2-40B4-BE49-F238E27FC236}">
                <a16:creationId xmlns:a16="http://schemas.microsoft.com/office/drawing/2014/main" id="{B4BB1F2F-F7B8-384C-B52D-07332204F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9BA0C7-1E33-E342-9FC3-9846CA5964A8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8DA93B-4885-224A-B574-14F99D7A1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7" name="Текст 4">
            <a:extLst>
              <a:ext uri="{FF2B5EF4-FFF2-40B4-BE49-F238E27FC236}">
                <a16:creationId xmlns:a16="http://schemas.microsoft.com/office/drawing/2014/main" id="{6CE505C2-0127-A948-A645-E5344CB9F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E286A9C-2FBE-144C-9BCB-5E7FDF676F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9AE30CB3-8053-B34A-85B3-2F5F73411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2959A95-2F44-CE46-8F2A-C1BE661D76D4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536185F3-E8C3-7D4F-B789-A09863553E89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53A14AC-E154-9543-BC27-0981B383677F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6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87484" y="1339850"/>
            <a:ext cx="4968874" cy="40921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Рисунок 28">
            <a:extLst>
              <a:ext uri="{FF2B5EF4-FFF2-40B4-BE49-F238E27FC236}">
                <a16:creationId xmlns:a16="http://schemas.microsoft.com/office/drawing/2014/main" id="{F0D9EFE8-0520-B840-A57B-7193307DFAE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7231" y="1339849"/>
            <a:ext cx="4968874" cy="40921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1141BE6E-12FB-4541-B42C-AECB4085D5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5534074"/>
            <a:ext cx="4968874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6E5B4DAF-1361-BB46-8074-058DF25738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9751" y="5534074"/>
            <a:ext cx="4968874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5ED5C-F59B-804C-8EBD-A61A582C7B5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26A7594-9381-6847-A496-64555AFD81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6" name="Текст 4">
            <a:extLst>
              <a:ext uri="{FF2B5EF4-FFF2-40B4-BE49-F238E27FC236}">
                <a16:creationId xmlns:a16="http://schemas.microsoft.com/office/drawing/2014/main" id="{90F474C5-C0E8-2A48-BC39-0E12CB7D5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CBE34F1-3131-4E4E-9BA2-CDA9482C6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CA6C1243-600A-5345-8FFB-182BD832E9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E1AF5D3-5783-1B48-B1A4-36D2522E72C4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C99CD9C-9462-8140-91B0-E33F02F3FFF0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688CA12-4D43-224F-96E7-C3D274B1CAD9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6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4965" y="2201412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Рисунок 28">
            <a:extLst>
              <a:ext uri="{FF2B5EF4-FFF2-40B4-BE49-F238E27FC236}">
                <a16:creationId xmlns:a16="http://schemas.microsoft.com/office/drawing/2014/main" id="{5D9171AC-46CC-A546-B122-577A5E5BD70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9578" y="2220360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8">
            <a:extLst>
              <a:ext uri="{FF2B5EF4-FFF2-40B4-BE49-F238E27FC236}">
                <a16:creationId xmlns:a16="http://schemas.microsoft.com/office/drawing/2014/main" id="{D3426CCC-4032-B44D-80F1-9CB7F0367C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96916" y="2201411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75D0E25-B96E-4249-9D3E-CF4BBBAEBC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4" y="5727680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04F75700-B9B5-E24C-AA85-B94E45D87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06" y="5725558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5" name="Текст 26">
            <a:extLst>
              <a:ext uri="{FF2B5EF4-FFF2-40B4-BE49-F238E27FC236}">
                <a16:creationId xmlns:a16="http://schemas.microsoft.com/office/drawing/2014/main" id="{872336F6-CF37-A247-9B5F-D0F0EB4EA2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4649" y="5725558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6" name="Заголовок 24">
            <a:extLst>
              <a:ext uri="{FF2B5EF4-FFF2-40B4-BE49-F238E27FC236}">
                <a16:creationId xmlns:a16="http://schemas.microsoft.com/office/drawing/2014/main" id="{77CBF26B-05FB-244A-9ADE-06D684782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573313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Наименование группы рисунков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4E12EC-52A8-5C4E-9651-03E0CD66E5E8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2FD07C3-596C-AC48-A841-F7DDF37BC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0" name="Текст 4">
            <a:extLst>
              <a:ext uri="{FF2B5EF4-FFF2-40B4-BE49-F238E27FC236}">
                <a16:creationId xmlns:a16="http://schemas.microsoft.com/office/drawing/2014/main" id="{0168AE6A-5814-4C4C-AE07-12BBC7CDA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B6F799AC-B214-A345-AF6C-571AC66967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53B39D8B-F91F-4242-8CEE-B3B97608F8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DD01515-AF70-824B-923A-632230561435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19656553-61D2-0E4B-93A7-5939ADC0515D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D51A5042-D9F7-5245-90CA-285899781037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0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15" y="2720974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4A3B38F-3BCC-1D40-AC1E-124A7B7C2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12051" y="2720975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5987" y="2720975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02F285B5-5BF8-A745-BB0E-F007D7FDF6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6D59643-23B7-F845-993C-C8BCD95015AD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530CDBD-3649-BF4D-8D22-CEC35FD37AE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12462A3-FD13-F942-9B91-30663B351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7" name="Текст 4">
            <a:extLst>
              <a:ext uri="{FF2B5EF4-FFF2-40B4-BE49-F238E27FC236}">
                <a16:creationId xmlns:a16="http://schemas.microsoft.com/office/drawing/2014/main" id="{AA9935B0-2817-584D-AC73-BDD1C16B46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6EBC1EE9-55FA-0F46-85AB-23D168F1F7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339A298-8C21-AB42-B8E6-C7B960CF3C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99EDED6-F071-3648-B062-12E1BCC78200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701671A-DB91-2D4F-97C9-B789EABBFD26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15626AB-D890-3747-A539-6D9F052B7468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0610"/>
            <a:ext cx="5689600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2720974"/>
            <a:ext cx="5689598" cy="271213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8902" y="2024743"/>
            <a:ext cx="4488998" cy="3408364"/>
          </a:xfrm>
          <a:prstGeom prst="rect">
            <a:avLst/>
          </a:prstGeom>
        </p:spPr>
        <p:txBody>
          <a:bodyPr/>
          <a:lstStyle>
            <a:lvl1pPr marL="0">
              <a:defRPr lang="ru-RU" sz="3600" b="0" i="1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Место для цитаты 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A280F049-04E6-874E-96C0-A336A3990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5517390"/>
            <a:ext cx="5689600" cy="1007235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7C224E-EEA1-3E4B-AF37-7222B8090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7900" y="5433107"/>
            <a:ext cx="540000" cy="54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770D5D-0A0D-3B4D-BB64-404830D24C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8902" y="1484743"/>
            <a:ext cx="540000" cy="540000"/>
          </a:xfrm>
          <a:prstGeom prst="rect">
            <a:avLst/>
          </a:prstGeom>
        </p:spPr>
      </p:pic>
      <p:sp>
        <p:nvSpPr>
          <p:cNvPr id="24" name="Текст 26">
            <a:extLst>
              <a:ext uri="{FF2B5EF4-FFF2-40B4-BE49-F238E27FC236}">
                <a16:creationId xmlns:a16="http://schemas.microsoft.com/office/drawing/2014/main" id="{A5CDD662-F449-124B-BE22-DEDDC2FF8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9FD9FA6-EB6D-B44F-A550-F88BA7D5FF87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A8484A-73DD-C040-B9C4-2C33B65396C2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2EE2139-0685-114F-80CB-AA9CBB2207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9" name="Текст 4">
            <a:extLst>
              <a:ext uri="{FF2B5EF4-FFF2-40B4-BE49-F238E27FC236}">
                <a16:creationId xmlns:a16="http://schemas.microsoft.com/office/drawing/2014/main" id="{E04D21A6-6A33-124B-ABF3-CD53309D76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62AA9DC1-A792-D94B-8936-089369343B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8821F9A-5AA0-E740-B83A-CF98E96730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ABAE55D-FF73-0C42-BF8C-E00B4643C929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406B0339-367E-B646-8773-047743ADC961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B7E55EF-773E-244C-ADDB-49CF72339C2C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17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720974"/>
            <a:ext cx="5689599" cy="271213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4" name="Диаграмма 3">
            <a:extLst>
              <a:ext uri="{FF2B5EF4-FFF2-40B4-BE49-F238E27FC236}">
                <a16:creationId xmlns:a16="http://schemas.microsoft.com/office/drawing/2014/main" id="{EB6AC651-4541-CA4F-8013-79F8FE3B021E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27378" y="1339850"/>
            <a:ext cx="5131246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C27FD206-A456-6445-92B0-A67D77472D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85D4D81A-49D2-5740-AB00-BDD62E63D0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C268C17-D8D6-7141-9ADD-2B0EAC3B4C33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498383-0427-4D4E-AEBC-91CCD6873C5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D274541-9940-544E-8137-ABDAF7B9E3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8" name="Текст 4">
            <a:extLst>
              <a:ext uri="{FF2B5EF4-FFF2-40B4-BE49-F238E27FC236}">
                <a16:creationId xmlns:a16="http://schemas.microsoft.com/office/drawing/2014/main" id="{8572B25A-EEE3-8140-8393-55F225FF75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4A106E-791B-6D42-94B1-021CEC772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D0DCCE3A-CE51-284A-B2A2-BE3BF2791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491864C6-6A4C-A34D-AA6D-026BACE3F8BF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F2041D7-24D5-C441-986E-28A6FB1B114C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197484F7-0101-014B-95AA-98E316F274B1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901847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r>
              <a:rPr lang="ru-RU" dirty="0"/>
              <a:t>Название графика, название графика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416630"/>
            <a:ext cx="5689599" cy="3016478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A280F049-04E6-874E-96C0-A336A3990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78D52C51-3944-FA4D-9486-75B9663298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4A03196-78B8-E442-B319-3AD5D6C4253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8000AD-5AAC-544D-B364-BF224D44E571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3824B31-4D06-6C45-B9FD-F9EAA77DE3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6" name="Текст 4">
            <a:extLst>
              <a:ext uri="{FF2B5EF4-FFF2-40B4-BE49-F238E27FC236}">
                <a16:creationId xmlns:a16="http://schemas.microsoft.com/office/drawing/2014/main" id="{688A8DFC-DA50-1648-961C-5760B98F4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650A3CC3-16F8-6249-A616-AC6179612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5F538EF1-8CC8-AC43-A895-7BEBBFDC5F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AC2E0B1-DB7A-4348-9924-5E1C4A3A002E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38C657C-0A84-8342-95ED-CD3BA7F127C4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AAE53AC-EC0C-7D4A-BC51-CD6E3EC70890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Диаграмма 3">
            <a:extLst>
              <a:ext uri="{FF2B5EF4-FFF2-40B4-BE49-F238E27FC236}">
                <a16:creationId xmlns:a16="http://schemas.microsoft.com/office/drawing/2014/main" id="{E414F01B-A143-2E49-A8F3-8FCAB4C2F8C1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27378" y="1339850"/>
            <a:ext cx="5131246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00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6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01" y="4216555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4A3B38F-3BCC-1D40-AC1E-124A7B7C2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3419" y="4216556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7836" y="4216556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939E8763-9814-184B-90B2-0B3AB8EC9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001" y="2699663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73E8C77E-D650-0942-905F-1526841144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3419" y="2699664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D54F7FE1-0F7D-3A4B-83E7-513381AF93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7836" y="2699664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78BF2A4C-89CB-2947-A5DC-C2A4317FF6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5F9F732-93B3-3C4C-BC1F-E19F0B1D6C1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C6DC0E-178D-B341-9D21-55D570C8F932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98C8564-F7F9-3A43-8532-67AF50ED0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0" name="Текст 4">
            <a:extLst>
              <a:ext uri="{FF2B5EF4-FFF2-40B4-BE49-F238E27FC236}">
                <a16:creationId xmlns:a16="http://schemas.microsoft.com/office/drawing/2014/main" id="{B42FE51A-67E6-D64A-A410-CCD177E0C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C911965E-1D6C-5B4C-B61D-5179D7D36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DDAFE819-62DC-724E-BE0E-164F5F8E9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2380CDB3-950A-9646-9B2C-151ADF500455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DB2FCCBB-234D-8647-9181-D6FF1BE471A7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1E73DE8-8DA5-8A49-8ABC-45D9B7BCCDBA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6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02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939E8763-9814-184B-90B2-0B3AB8EC9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002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72</a:t>
            </a:r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78BF2A4C-89CB-2947-A5DC-C2A4317FF6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5F9F732-93B3-3C4C-BC1F-E19F0B1D6C1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26">
            <a:extLst>
              <a:ext uri="{FF2B5EF4-FFF2-40B4-BE49-F238E27FC236}">
                <a16:creationId xmlns:a16="http://schemas.microsoft.com/office/drawing/2014/main" id="{01755D45-717D-274B-B65E-BE413A8DF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42974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29" name="Текст 26">
            <a:extLst>
              <a:ext uri="{FF2B5EF4-FFF2-40B4-BE49-F238E27FC236}">
                <a16:creationId xmlns:a16="http://schemas.microsoft.com/office/drawing/2014/main" id="{2AAD73FF-5F9E-5549-95D3-AFF26636C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42974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72</a:t>
            </a:r>
          </a:p>
        </p:txBody>
      </p:sp>
      <p:sp>
        <p:nvSpPr>
          <p:cNvPr id="30" name="Текст 26">
            <a:extLst>
              <a:ext uri="{FF2B5EF4-FFF2-40B4-BE49-F238E27FC236}">
                <a16:creationId xmlns:a16="http://schemas.microsoft.com/office/drawing/2014/main" id="{73381E18-3441-D046-AC92-5B040D358C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6946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1" name="Текст 26">
            <a:extLst>
              <a:ext uri="{FF2B5EF4-FFF2-40B4-BE49-F238E27FC236}">
                <a16:creationId xmlns:a16="http://schemas.microsoft.com/office/drawing/2014/main" id="{23EC6B34-4977-5545-8772-921CD7B9A4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6946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F361081-C05B-BF40-95A8-AF693DDBAC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10918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3" name="Текст 26">
            <a:extLst>
              <a:ext uri="{FF2B5EF4-FFF2-40B4-BE49-F238E27FC236}">
                <a16:creationId xmlns:a16="http://schemas.microsoft.com/office/drawing/2014/main" id="{D0D4F9DC-998D-2B4A-AC6B-1E4F01F938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10918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34" name="Текст 26">
            <a:extLst>
              <a:ext uri="{FF2B5EF4-FFF2-40B4-BE49-F238E27FC236}">
                <a16:creationId xmlns:a16="http://schemas.microsoft.com/office/drawing/2014/main" id="{0DF29482-0EDF-704A-AFFE-33AAE6B350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94888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5" name="Текст 26">
            <a:extLst>
              <a:ext uri="{FF2B5EF4-FFF2-40B4-BE49-F238E27FC236}">
                <a16:creationId xmlns:a16="http://schemas.microsoft.com/office/drawing/2014/main" id="{3A8B23B8-3CA0-4147-B2F1-24D8DCE1AE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94888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20AE5-4DC6-9E4D-BDDA-145F3E05660B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CBB57C0-E158-734A-A308-1D870D086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7" name="Текст 4">
            <a:extLst>
              <a:ext uri="{FF2B5EF4-FFF2-40B4-BE49-F238E27FC236}">
                <a16:creationId xmlns:a16="http://schemas.microsoft.com/office/drawing/2014/main" id="{F3553B5A-0B13-3F4F-BE0A-0357377CDC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D6899F38-B8C5-C046-B709-72EAB8B890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3656B76-9528-9F42-8C43-3993BCB3FB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25C7C5B1-4205-CC4B-98BB-F6A1D1FFC399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13F108D6-96B9-444F-923A-F51B855B2554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6C1D2620-C475-B049-862C-BF4513EBBF16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65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398507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Название таблицы, название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Таблица 3">
            <a:extLst>
              <a:ext uri="{FF2B5EF4-FFF2-40B4-BE49-F238E27FC236}">
                <a16:creationId xmlns:a16="http://schemas.microsoft.com/office/drawing/2014/main" id="{B2FEC73C-8A1F-5A4C-B67D-479635F6E7F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4963" y="2057400"/>
            <a:ext cx="11510494" cy="345999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9AE06B96-5C60-FE46-BA04-27F66B839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5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66A0A652-5D11-434C-894F-869458D184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F0CE56D-10FF-E942-A589-7303A8381452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DA0E8AB-96E6-DF4C-88CB-F53BE626E121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E7A44C-1D79-174D-BBA8-3323F40E1B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7" name="Текст 4">
            <a:extLst>
              <a:ext uri="{FF2B5EF4-FFF2-40B4-BE49-F238E27FC236}">
                <a16:creationId xmlns:a16="http://schemas.microsoft.com/office/drawing/2014/main" id="{4BA02E91-CA13-D84D-B261-DDC0C2242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07455FFC-25BD-0448-8F57-8BC5C6C815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31EC3848-4D14-964D-BC4B-5FB7125D3A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8F6B169-B5E8-E24D-9288-644B054FDA56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03820B0-D7BB-9141-B789-17B15B76BC1F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539111C-3552-0740-9E06-490EBEB318EC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774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6" y="1340610"/>
            <a:ext cx="7021512" cy="624000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Название таблицы, название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Таблица 3">
            <a:extLst>
              <a:ext uri="{FF2B5EF4-FFF2-40B4-BE49-F238E27FC236}">
                <a16:creationId xmlns:a16="http://schemas.microsoft.com/office/drawing/2014/main" id="{B2FEC73C-8A1F-5A4C-B67D-479635F6E7F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4963" y="2297840"/>
            <a:ext cx="7021512" cy="321955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9AE06B96-5C60-FE46-BA04-27F66B839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5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C0E26C6B-F6A0-094C-A1C5-27104F7BEB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5777" y="2297838"/>
            <a:ext cx="4219696" cy="3219551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A07C2DDC-C559-C54D-B29F-F6585D0A4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89CAF29-BC1D-294A-9E39-FC9CBB762E80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66C8648-4323-EC43-B62F-A37F9866FD9D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44D18C-0663-AA44-A2CF-428C581FD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7" name="Текст 4">
            <a:extLst>
              <a:ext uri="{FF2B5EF4-FFF2-40B4-BE49-F238E27FC236}">
                <a16:creationId xmlns:a16="http://schemas.microsoft.com/office/drawing/2014/main" id="{1F61EBFF-1CD5-8640-B924-2C7074D9A6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026E4634-0561-C441-A02D-8F3CA6265B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A98D3387-F0BC-4140-BD74-B4DAEB4E0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EA09417-A5EE-C34B-8C5E-1A4BA701B257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E28F12A-9566-844B-8206-33AEE94BF9A3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61944F9-74D1-CD40-AC21-4497E1CEED77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087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6">
            <a:extLst>
              <a:ext uri="{FF2B5EF4-FFF2-40B4-BE49-F238E27FC236}">
                <a16:creationId xmlns:a16="http://schemas.microsoft.com/office/drawing/2014/main" id="{2D70CAC7-EDDA-5B44-BE56-00A971ED50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0E02F32-DA69-7E44-8516-053C029C48FE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29622E-7D94-5543-A6AE-B60F20093723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DD0ABC-D0CC-B743-8F1A-C5DBCE174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99CF3D6A-5C35-E144-9472-A53052C933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0F6BE50F-4E02-AB42-9081-0318E4E2C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593C14C-1FDC-5945-ACDA-DF4B24EB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E733B1E5-79F4-8542-B41C-FB88DF7271CF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E945C7A-E208-5444-8266-06DB9C029152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CA2CCA6-8C10-0F4A-969E-3148BC7A4E75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999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4DC2ADE-5AF9-3B4E-92C9-994574D9C64F}"/>
              </a:ext>
            </a:extLst>
          </p:cNvPr>
          <p:cNvSpPr/>
          <p:nvPr userDrawn="1"/>
        </p:nvSpPr>
        <p:spPr>
          <a:xfrm>
            <a:off x="0" y="0"/>
            <a:ext cx="12193588" cy="6867939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47278F-9137-E74F-B15F-DDC5A1E1C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61203" y="2862943"/>
            <a:ext cx="3815643" cy="1132114"/>
          </a:xfrm>
          <a:prstGeom prst="rect">
            <a:avLst/>
          </a:prstGeom>
        </p:spPr>
      </p:pic>
      <p:sp>
        <p:nvSpPr>
          <p:cNvPr id="21" name="Текст 4">
            <a:extLst>
              <a:ext uri="{FF2B5EF4-FFF2-40B4-BE49-F238E27FC236}">
                <a16:creationId xmlns:a16="http://schemas.microsoft.com/office/drawing/2014/main" id="{918E5703-3B7C-CB45-A174-11E9862E3F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13938" y="1036389"/>
            <a:ext cx="1954638" cy="624000"/>
          </a:xfrm>
          <a:prstGeom prst="rect">
            <a:avLst/>
          </a:prstGeom>
        </p:spPr>
        <p:txBody>
          <a:bodyPr anchor="ctr"/>
          <a:lstStyle>
            <a:lvl1pPr marL="0" algn="ctr" defTabSz="163196">
              <a:defRPr lang="ru-RU" sz="1400" b="0" i="0" u="none" strike="noStrike" cap="none" dirty="0">
                <a:solidFill>
                  <a:schemeClr val="bg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Москва 2024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8B85831-F74F-044D-AE3E-77F87B6D566D}"/>
              </a:ext>
            </a:extLst>
          </p:cNvPr>
          <p:cNvCxnSpPr>
            <a:cxnSpLocks/>
          </p:cNvCxnSpPr>
          <p:nvPr userDrawn="1"/>
        </p:nvCxnSpPr>
        <p:spPr>
          <a:xfrm>
            <a:off x="9900083" y="1036389"/>
            <a:ext cx="0" cy="5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35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5" r:id="rId3"/>
    <p:sldLayoutId id="214748368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7" r:id="rId10"/>
    <p:sldLayoutId id="2147483681" r:id="rId11"/>
    <p:sldLayoutId id="2147483682" r:id="rId12"/>
    <p:sldLayoutId id="2147483683" r:id="rId13"/>
    <p:sldLayoutId id="214748368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292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70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7" orient="horz" pos="845" userDrawn="1">
          <p15:clr>
            <a:srgbClr val="F26B43"/>
          </p15:clr>
        </p15:guide>
        <p15:guide id="8" orient="horz" pos="3861" userDrawn="1">
          <p15:clr>
            <a:srgbClr val="FBAE40"/>
          </p15:clr>
        </p15:guide>
        <p15:guide id="9" pos="3795" userDrawn="1">
          <p15:clr>
            <a:srgbClr val="F26B43"/>
          </p15:clr>
        </p15:guide>
        <p15:guide id="10" orient="horz" pos="459" userDrawn="1">
          <p15:clr>
            <a:srgbClr val="FBAE40"/>
          </p15:clr>
        </p15:guide>
        <p15:guide id="11" pos="4634" userDrawn="1">
          <p15:clr>
            <a:srgbClr val="FBAE40"/>
          </p15:clr>
        </p15:guide>
        <p15:guide id="12" pos="3047" userDrawn="1">
          <p15:clr>
            <a:srgbClr val="FBAE40"/>
          </p15:clr>
        </p15:guide>
        <p15:guide id="13" pos="2253" userDrawn="1">
          <p15:clr>
            <a:srgbClr val="FBAE40"/>
          </p15:clr>
        </p15:guide>
        <p15:guide id="14" orient="horz" pos="2251" userDrawn="1">
          <p15:clr>
            <a:srgbClr val="F26B43"/>
          </p15:clr>
        </p15:guide>
        <p15:guide id="15" pos="5428" userDrawn="1">
          <p15:clr>
            <a:srgbClr val="FBAE40"/>
          </p15:clr>
        </p15:guide>
        <p15:guide id="16" pos="6222" userDrawn="1">
          <p15:clr>
            <a:srgbClr val="FBAE40"/>
          </p15:clr>
        </p15:guide>
        <p15:guide id="17" pos="1459" userDrawn="1">
          <p15:clr>
            <a:srgbClr val="FBAE40"/>
          </p15:clr>
        </p15:guide>
        <p15:guide id="18" pos="665" userDrawn="1">
          <p15:clr>
            <a:srgbClr val="FBAE40"/>
          </p15:clr>
        </p15:guide>
        <p15:guide id="19" pos="7016" userDrawn="1">
          <p15:clr>
            <a:srgbClr val="FBAE40"/>
          </p15:clr>
        </p15:guide>
        <p15:guide id="21" pos="38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A8846-B248-1548-8B76-3A790378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70" y="1889380"/>
            <a:ext cx="9285068" cy="2450107"/>
          </a:xfrm>
        </p:spPr>
        <p:txBody>
          <a:bodyPr/>
          <a:lstStyle/>
          <a:p>
            <a:pPr algn="ctr"/>
            <a:r>
              <a:rPr lang="ru-RU" sz="3600" dirty="0"/>
              <a:t>Практическая работа №2</a:t>
            </a:r>
            <a:endParaRPr lang="ru-RU" sz="3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10634E-D737-3C4B-8EA2-D8F666927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6525" y="5194765"/>
            <a:ext cx="5149850" cy="624000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282464-8E73-E140-942F-FC9DCD36A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геоинформатики</a:t>
            </a:r>
          </a:p>
          <a:p>
            <a:r>
              <a:rPr lang="ru-RU" dirty="0"/>
              <a:t>и информационной безопасности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2BC3EE3-4C48-DC47-8B79-99F361A123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Кафедра информационно-измерительных систем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2BE2587-2832-D14E-9C0E-A78140FFCA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Москва 2025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041B46F-1A24-4352-873E-3DBFB00B0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27450"/>
            <a:ext cx="12193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2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Engineering?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Искусство и наука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формулирования запросов для больших языковых моделей (LLM).</a:t>
            </a:r>
          </a:p>
          <a:p>
            <a:pPr lvl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Получать точные, релевантные, полные и форматированные ответы.</a:t>
            </a:r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Эффективные </a:t>
            </a:r>
            <a:r>
              <a:rPr lang="ru-RU" sz="1800" dirty="0" err="1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промпты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раскрывают полный потенциал LLM.</a:t>
            </a:r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Аналогия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Вы — дирижер, LLM — оркестр. Чем точнее ваша партитура, тем лучше исполнение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5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Техник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Базовые техники: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Фундамент для любого взаимодействия с LLM.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Просты в освоении, применимы повсеместно.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latin typeface="Times New Roman" panose="02020603050405020304" pitchFamily="18" charset="0"/>
              <a:cs typeface="DokChampa" panose="020B0604020202020204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Продвинутые техники: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Для сложных задач, повышения точности и надежности.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Часто требуют многошаговых взаимодействий или внешней логики</a:t>
            </a: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428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Техники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b="1" dirty="0">
              <a:solidFill>
                <a:srgbClr val="000072"/>
              </a:solidFill>
              <a:latin typeface="Times New Roman" panose="02020603050405020304" pitchFamily="18" charset="0"/>
              <a:ea typeface="NanumGothic" panose="020D0604000000000000" pitchFamily="34" charset="-127"/>
              <a:cs typeface="DokChampa" panose="020B0604020202020204" pitchFamily="34" charset="-34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b="1" dirty="0">
              <a:solidFill>
                <a:srgbClr val="000072"/>
              </a:solidFill>
              <a:latin typeface="Times New Roman" panose="02020603050405020304" pitchFamily="18" charset="0"/>
              <a:ea typeface="NanumGothic" panose="020D0604000000000000" pitchFamily="34" charset="-127"/>
              <a:cs typeface="DokChampa" panose="020B0604020202020204" pitchFamily="34" charset="-34"/>
            </a:endParaRPr>
          </a:p>
          <a:p>
            <a:pPr marL="2857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Zero-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shot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Prompting</a:t>
            </a:r>
            <a:endParaRPr lang="ru-RU" sz="1800" b="1" dirty="0">
              <a:solidFill>
                <a:srgbClr val="000072"/>
              </a:solidFill>
              <a:latin typeface="Times New Roman" panose="02020603050405020304" pitchFamily="18" charset="0"/>
              <a:ea typeface="NanumGothic" panose="020D0604000000000000" pitchFamily="34" charset="-127"/>
              <a:cs typeface="DokChampa" panose="020B0604020202020204" pitchFamily="34" charset="-34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b="1" dirty="0">
              <a:solidFill>
                <a:srgbClr val="000072"/>
              </a:solidFill>
              <a:latin typeface="Times New Roman" panose="02020603050405020304" pitchFamily="18" charset="0"/>
              <a:ea typeface="NanumGothic" panose="020D0604000000000000" pitchFamily="34" charset="-127"/>
              <a:cs typeface="DokChampa" panose="020B0604020202020204" pitchFamily="34" charset="-34"/>
            </a:endParaRPr>
          </a:p>
          <a:p>
            <a:pPr marL="2857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Few-shot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DokChampa" panose="020B0604020202020204" pitchFamily="34" charset="-34"/>
              </a:rPr>
              <a:t>Prompting</a:t>
            </a:r>
            <a:endParaRPr lang="ru-RU" sz="1800" b="1" dirty="0">
              <a:solidFill>
                <a:srgbClr val="000072"/>
              </a:solidFill>
              <a:latin typeface="Times New Roman" panose="02020603050405020304" pitchFamily="18" charset="0"/>
              <a:ea typeface="NanumGothic" panose="020D0604000000000000" pitchFamily="34" charset="-127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747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64089" y="2345064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без каких-либо примеров в промпте. Модель опирается на свои внутренние знания.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задачи (перевод, суммаризация, классификация).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Простота, экономия токенов.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Меньшая точность для сложного, неконтролируемый формат, риск "галлюцинаций".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run llama3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Опиши кратко эффект домино.</a:t>
            </a:r>
          </a:p>
          <a:p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Краткое определение.</a:t>
            </a: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2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Few-shot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348116" y="1765133"/>
            <a:ext cx="11510494" cy="51781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предоставляются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примеров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входных/выходных данных, чтобы она поняла формат или стиль.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Классификация, извлечение информации, генерация текста в специфическом стиле.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Улучшенная точность, контроль формата, in-context learning.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Потребление токенов, ограничение контекстного окна, зависимость от качества примеров.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run llama3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Классифицируй тональность: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Текст: Это ужасно.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 Негативная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Текст: Новая книга... скучной.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Тональность:</a:t>
            </a:r>
          </a:p>
          <a:p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Негативная</a:t>
            </a: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6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5A34-960E-48DF-4B80-41389154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7B08E3-64DE-CB03-226A-7F7AE6A5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Продвинутые Техники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D89EDDE-8B76-1A85-CCCC-DC3FBF488C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EF022AB-6657-8BB8-E93F-EEBDD9235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F231A86-FE28-1FDE-FBFD-649220AA07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342E67B-5CCB-D23B-0558-A450C48D14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BF4EBC3E-246A-B23D-9F32-57A2674BDED3}"/>
              </a:ext>
            </a:extLst>
          </p:cNvPr>
          <p:cNvSpPr txBox="1">
            <a:spLocks/>
          </p:cNvSpPr>
          <p:nvPr/>
        </p:nvSpPr>
        <p:spPr>
          <a:xfrm>
            <a:off x="1464089" y="2345064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Chaining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Directional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Stimulus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..и более сложные (RAG, </a:t>
            </a:r>
            <a:r>
              <a:rPr lang="ru-RU" sz="18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ReAct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и др.)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9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B847-C033-539B-0659-7CE70CD7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420582-E4A9-D78F-526D-E206714C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Prompting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4D04D54-FC82-D16E-A178-E26AC4031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E5D8EA-AB27-40D4-9E8A-2D361DFF61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AF702F3-6A8C-5FE2-9719-E67F2F74D5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4A3A58F-6107-104A-7B83-36E06E9447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8F46EE9E-9FC0-6249-F7AB-C63926A5FB9F}"/>
              </a:ext>
            </a:extLst>
          </p:cNvPr>
          <p:cNvSpPr txBox="1">
            <a:spLocks/>
          </p:cNvSpPr>
          <p:nvPr/>
        </p:nvSpPr>
        <p:spPr>
          <a:xfrm>
            <a:off x="1013253" y="2366569"/>
            <a:ext cx="10152947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просят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"рассуждать шаг за шагом"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перед тем, как дать окончательный ответ.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Математические задачи, логические головоломки, сложные рассуждения.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Значительное улучшение логических способностей, прозрачность рассуждений, снижение галлюцинаций.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длины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промпта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/ответа, медленнее.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run llama3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У меня было 10 яблок. Купил 5. Съел 3, подарил 2. Сколько осталось? Покажи рассуждения шаг за шагом.</a:t>
            </a:r>
          </a:p>
          <a:p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Пошаговый расчет до 10 яблок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6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EF85-AA60-B2C5-7663-B472BFBD2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33D657-6867-1F34-F370-591B7B36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F4896FE-FA83-9CDA-F284-468E433334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A5276C7-5706-3B6D-9FCD-0B07CC6E6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F3EE710-7828-885F-0D5E-5553C4E73A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C95067BE-A7B9-2F75-F2AB-D2C2CB4308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EAB2503B-6AB5-C193-F1B1-BB955BDD1F2C}"/>
              </a:ext>
            </a:extLst>
          </p:cNvPr>
          <p:cNvSpPr txBox="1">
            <a:spLocks/>
          </p:cNvSpPr>
          <p:nvPr/>
        </p:nvSpPr>
        <p:spPr>
          <a:xfrm>
            <a:off x="1013253" y="2366569"/>
            <a:ext cx="10152947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Расширение CoT. Модель генерирует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цепочек рассуждений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затем выбирается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частый ответ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Критические задачи, где нужна высокая надежность (математика, логика).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Значительное повышение надежности, более стабильные ответы.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Очень высокая вычислительная стоимость, требует внешней логики.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(Ollama - имитация):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run llama3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Реши задачу тремя разными способами, показывая каждый шаг рассуждения.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 Если сегодня вторник, какой день недели будет через 100 дней?</a:t>
            </a:r>
          </a:p>
          <a:p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Три разных пути к "Четвергу".</a:t>
            </a: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82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9679-6C88-CF0D-85A3-1CF83C67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C798A3-B88F-FB39-3883-AADCF9DA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F3F8277-B427-681A-D644-2138615468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95AD0FB-6535-FF7D-047B-EBDB59847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99CB93D-AB89-683B-D432-0841A7693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D58635E-560E-7A89-D3AE-8999C640B6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86CA5F9B-A10A-76A2-4F31-6C03FDE5D65A}"/>
              </a:ext>
            </a:extLst>
          </p:cNvPr>
          <p:cNvSpPr txBox="1">
            <a:spLocks/>
          </p:cNvSpPr>
          <p:nvPr/>
        </p:nvSpPr>
        <p:spPr>
          <a:xfrm>
            <a:off x="1013253" y="2366569"/>
            <a:ext cx="10152947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генерирует релевантные факты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затем использует их для ответа на основной вопрос.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Ответы на сложные вопросы, сравнение концепций.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Снижение галлюцинаций, более глубокие и обоснованные ответы, прозрачность.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Увеличение длины, факты могут быть неверными.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llama3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Шаг 1: Сгенерируй 5 фактов о фотосинтезе.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2: Используя эти факты, объясни, почему фотосинтез важен для жизни на Земле.</a:t>
            </a:r>
          </a:p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Список фактов, затем объяснение.</a:t>
            </a:r>
          </a:p>
        </p:txBody>
      </p:sp>
    </p:spTree>
    <p:extLst>
      <p:ext uri="{BB962C8B-B14F-4D97-AF65-F5344CB8AC3E}">
        <p14:creationId xmlns:p14="http://schemas.microsoft.com/office/powerpoint/2010/main" val="6450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01120-4E9B-B282-099C-0C4B38E7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D79029E-A7DF-39E5-4884-15C634CC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541AD6F-38DF-E771-7045-A7C9FCC29E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EEA33FC-799C-FC5A-40ED-BA8ABA384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94AC48E-54A7-EC71-051E-91329E6056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F22A060-B029-067A-2F2F-CDED89467F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6DD57979-4F22-61B3-9485-7AF3B64D033A}"/>
              </a:ext>
            </a:extLst>
          </p:cNvPr>
          <p:cNvSpPr txBox="1">
            <a:spLocks/>
          </p:cNvSpPr>
          <p:nvPr/>
        </p:nvSpPr>
        <p:spPr>
          <a:xfrm>
            <a:off x="1949667" y="2384793"/>
            <a:ext cx="8307392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Задача разбивается на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последовательных промптов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вывод одного становится вводом для следующего.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Многошаговый анализ текста, создание сложных документов.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Разрешение очень сложных задач, гибкость, улучшенное качество на каждом шаге.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Требует внешней оркестровки, накопление ошибок, задержка.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(концептуальный):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Промпт</a:t>
            </a:r>
            <a:r>
              <a:rPr lang="ru-RU" sz="16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1: "Предложи 3 идеи для мобильного приложения..."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Промпт</a:t>
            </a:r>
            <a:r>
              <a:rPr lang="ru-RU" sz="16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2 (на основе выбора из 1): "Опиши функционал выбранной идеи..."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Промпт</a:t>
            </a:r>
            <a:r>
              <a:rPr lang="ru-RU" sz="16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3 (на основе 2): "Напиши слоган для приложения..."</a:t>
            </a:r>
          </a:p>
        </p:txBody>
      </p:sp>
    </p:spTree>
    <p:extLst>
      <p:ext uri="{BB962C8B-B14F-4D97-AF65-F5344CB8AC3E}">
        <p14:creationId xmlns:p14="http://schemas.microsoft.com/office/powerpoint/2010/main" val="607144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55D7-0540-4EAF-E9AC-BE35AB43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BC3ECE-4E17-D505-8391-E2830C85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Directional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Stimulus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603EC88-9F91-F12B-FAD9-24210B03B7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26919F2-F7F7-B4A0-CC1A-4C644E6252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6920C9D-D0AE-70AB-88EC-B7AABCC42B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4C8336CF-677E-6E29-65FD-36ECEDCE06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1149B61E-B709-E144-4F15-668DDF4C5C5B}"/>
              </a:ext>
            </a:extLst>
          </p:cNvPr>
          <p:cNvSpPr txBox="1">
            <a:spLocks/>
          </p:cNvSpPr>
          <p:nvPr/>
        </p:nvSpPr>
        <p:spPr>
          <a:xfrm>
            <a:off x="784262" y="1806365"/>
            <a:ext cx="10610929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дают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направляющие подсказки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стимулируют её учитывать определённые аспекты или перспективы перед ответом (например, "подумай о методологических ошибках").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Задачи, требующие глубокого анализа, учета разных точек зрения, взвешенных решений.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Простота реализации, улучшение качества рассуждений, более сбалансированные ответы.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Менее явное, чем CoT, зависит от формулировки.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run llama3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Ты - редактор научного журнала. Оцени гипотезу: "Употребление кофеинсодержащих напитков снижает риск рака".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Прежде чем дать вывод, подумай о возможных методологических ошибках в исследованиях...</a:t>
            </a:r>
          </a:p>
          <a:p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ответ: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Критический анализ с учетом потенциальных ошибок.</a:t>
            </a:r>
          </a:p>
        </p:txBody>
      </p:sp>
    </p:spTree>
    <p:extLst>
      <p:ext uri="{BB962C8B-B14F-4D97-AF65-F5344CB8AC3E}">
        <p14:creationId xmlns:p14="http://schemas.microsoft.com/office/powerpoint/2010/main" val="306987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847F-4784-D186-EB19-5755A971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C3160E6-268F-B0C3-A039-D86BD275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16" y="1185469"/>
            <a:ext cx="11510495" cy="1181100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Продвинутые и Комплексные Техники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E65D7F3-A5AB-A1FC-FE61-BE66236804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C6A9741-5FB6-B1D1-FBD7-4A5F6CB0B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3E43EAB-7D27-E0F0-BD24-DC4214C400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CF445CD-3A8C-D4BB-C518-1A16559876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4">
            <a:extLst>
              <a:ext uri="{FF2B5EF4-FFF2-40B4-BE49-F238E27FC236}">
                <a16:creationId xmlns:a16="http://schemas.microsoft.com/office/drawing/2014/main" id="{2CC8E02A-9CD1-0896-B145-4C76C30E8B3A}"/>
              </a:ext>
            </a:extLst>
          </p:cNvPr>
          <p:cNvSpPr txBox="1">
            <a:spLocks/>
          </p:cNvSpPr>
          <p:nvPr/>
        </p:nvSpPr>
        <p:spPr>
          <a:xfrm>
            <a:off x="1624108" y="2170046"/>
            <a:ext cx="8931238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Tree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of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Thoughts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(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ToT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):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Множество веток рассуждений, оценка и выбор лучшей.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Retrieval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Augmented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Generation (RAG):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LLM использует внешние документы/базы знаний. (Снижает галлюцинации, повышает актуальность).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Automatic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Reasoning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and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Tool-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use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(ART) /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ReAct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LLM учится использовать внешние инструменты (поиск, калькулятор, API). (Точные вычисления, актуальные данные).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Program-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Aided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Language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Models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(PAL):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Модель пишет код для решения задачи, который затем выполняется. (Высочайшая точность для числовых задач).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Reflexion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: Модель учится на собственных ошибках, критикуя и исправляя свои ответы. (Самосовершенствование).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Multimodal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CoT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/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Graph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Prompting</a:t>
            </a: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: </a:t>
            </a:r>
            <a:r>
              <a:rPr lang="ru-RU" sz="18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CoT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для изображений/текста или использование </a:t>
            </a:r>
            <a:r>
              <a:rPr lang="ru-RU" sz="1800" dirty="0" err="1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графовых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 структур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ea typeface="NanumGothic" panose="020D0604000000000000" pitchFamily="34" charset="-127"/>
                <a:cs typeface="Times New Roman" panose="02020603050405020304" pitchFamily="18" charset="0"/>
              </a:rPr>
              <a:t>Эти техники часто требуют сложной архитектуры и внешней логики/инструментов.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298629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2915043" y="2438399"/>
            <a:ext cx="6363502" cy="31154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AutoNum type="arabicPeriod"/>
            </a:pP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Попробовать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виды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решения одной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2983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889F21-954A-174C-AD1F-DB86BEFFD3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41847542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/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9064</TotalTime>
  <Words>1116</Words>
  <Application>Microsoft Office PowerPoint</Application>
  <PresentationFormat>Произвольный</PresentationFormat>
  <Paragraphs>179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Calibri</vt:lpstr>
      <vt:lpstr>Cambria</vt:lpstr>
      <vt:lpstr>Times New Roman</vt:lpstr>
      <vt:lpstr>Simple Light</vt:lpstr>
      <vt:lpstr>Практическая работа №2</vt:lpstr>
      <vt:lpstr>Что такое Prompt Engineering?</vt:lpstr>
      <vt:lpstr>Категории Техник Prompt Engineering</vt:lpstr>
      <vt:lpstr>Базовые Техники Promt Engineering</vt:lpstr>
      <vt:lpstr>Zero-shot Prompting</vt:lpstr>
      <vt:lpstr>Few-shot Prompting</vt:lpstr>
      <vt:lpstr>Продвинутые Техники Promt Engineering</vt:lpstr>
      <vt:lpstr>Chain-of-Thought (CoT) Prompting</vt:lpstr>
      <vt:lpstr>Self-Consistency</vt:lpstr>
      <vt:lpstr>Generate Knowledge Prompting</vt:lpstr>
      <vt:lpstr>Prompt Chaining</vt:lpstr>
      <vt:lpstr> Directional Stimulus Prompting</vt:lpstr>
      <vt:lpstr>Более Продвинутые и Комплексные Техники</vt:lpstr>
      <vt:lpstr>Практическая работа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Бронислав</dc:creator>
  <cp:lastModifiedBy>Stepan Shirinkin</cp:lastModifiedBy>
  <cp:revision>963</cp:revision>
  <dcterms:modified xsi:type="dcterms:W3CDTF">2026-03-27T15:47:09Z</dcterms:modified>
</cp:coreProperties>
</file>