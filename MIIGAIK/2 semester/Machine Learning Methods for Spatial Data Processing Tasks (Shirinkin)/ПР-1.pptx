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0" r:id="rId1"/>
  </p:sldMasterIdLst>
  <p:notesMasterIdLst>
    <p:notesMasterId r:id="rId11"/>
  </p:notesMasterIdLst>
  <p:sldIdLst>
    <p:sldId id="273" r:id="rId2"/>
    <p:sldId id="285" r:id="rId3"/>
    <p:sldId id="291" r:id="rId4"/>
    <p:sldId id="287" r:id="rId5"/>
    <p:sldId id="288" r:id="rId6"/>
    <p:sldId id="289" r:id="rId7"/>
    <p:sldId id="290" r:id="rId8"/>
    <p:sldId id="286" r:id="rId9"/>
    <p:sldId id="269" r:id="rId10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72"/>
    <a:srgbClr val="0F2B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3766" autoAdjust="0"/>
  </p:normalViewPr>
  <p:slideViewPr>
    <p:cSldViewPr snapToGrid="0" snapToObjects="1">
      <p:cViewPr varScale="1">
        <p:scale>
          <a:sx n="76" d="100"/>
          <a:sy n="76" d="100"/>
        </p:scale>
        <p:origin x="941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2" d="100"/>
          <a:sy n="122" d="100"/>
        </p:scale>
        <p:origin x="4016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243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5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B19825F-9503-B044-981B-2098979D276D}"/>
              </a:ext>
            </a:extLst>
          </p:cNvPr>
          <p:cNvSpPr/>
          <p:nvPr userDrawn="1"/>
        </p:nvSpPr>
        <p:spPr>
          <a:xfrm>
            <a:off x="0" y="1889381"/>
            <a:ext cx="12193588" cy="2450107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4DC2ADE-5AF9-3B4E-92C9-994574D9C64F}"/>
              </a:ext>
            </a:extLst>
          </p:cNvPr>
          <p:cNvSpPr/>
          <p:nvPr userDrawn="1"/>
        </p:nvSpPr>
        <p:spPr>
          <a:xfrm>
            <a:off x="0" y="4"/>
            <a:ext cx="12193588" cy="1867145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43FD077-7D94-044D-B50C-CB09284C7833}"/>
              </a:ext>
            </a:extLst>
          </p:cNvPr>
          <p:cNvSpPr/>
          <p:nvPr userDrawn="1"/>
        </p:nvSpPr>
        <p:spPr>
          <a:xfrm>
            <a:off x="0" y="4361725"/>
            <a:ext cx="12193588" cy="2496279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BEC2C8E-AFE9-8E44-BF51-53CE5A7C6CF2}"/>
              </a:ext>
            </a:extLst>
          </p:cNvPr>
          <p:cNvSpPr/>
          <p:nvPr userDrawn="1"/>
        </p:nvSpPr>
        <p:spPr>
          <a:xfrm>
            <a:off x="334963" y="728663"/>
            <a:ext cx="11523662" cy="540067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96B875E-FEDF-0C4B-8FB6-4510D4AB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871" y="940405"/>
            <a:ext cx="2354654" cy="698544"/>
          </a:xfrm>
          <a:prstGeom prst="rect">
            <a:avLst/>
          </a:prstGeom>
        </p:spPr>
      </p:pic>
      <p:sp>
        <p:nvSpPr>
          <p:cNvPr id="31" name="Заголовок 21">
            <a:extLst>
              <a:ext uri="{FF2B5EF4-FFF2-40B4-BE49-F238E27FC236}">
                <a16:creationId xmlns:a16="http://schemas.microsoft.com/office/drawing/2014/main" id="{EF8917B0-871C-4442-88F5-316C4007E4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871" y="1889380"/>
            <a:ext cx="9285068" cy="2450107"/>
          </a:xfrm>
          <a:prstGeom prst="rect">
            <a:avLst/>
          </a:prstGeom>
        </p:spPr>
        <p:txBody>
          <a:bodyPr anchor="ctr"/>
          <a:lstStyle>
            <a:lvl1pPr algn="just">
              <a:defRPr lang="ru-RU" sz="4400" b="1" i="0" u="none" strike="noStrike" cap="none" dirty="0">
                <a:solidFill>
                  <a:srgbClr val="000072"/>
                </a:solidFill>
                <a:latin typeface="+mj-lt"/>
                <a:ea typeface="NanumGothic" panose="020D0604000000000000" pitchFamily="34" charset="-127"/>
                <a:cs typeface="Arial" panose="020B0604020202020204" pitchFamily="34" charset="0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презентации</a:t>
            </a:r>
            <a:br>
              <a:rPr lang="ru-RU" dirty="0"/>
            </a:br>
            <a:r>
              <a:rPr lang="ru-RU" dirty="0"/>
              <a:t>может </a:t>
            </a:r>
            <a:r>
              <a:rPr lang="ru-RU"/>
              <a:t>быть набрано </a:t>
            </a:r>
            <a:r>
              <a:rPr lang="ru-RU" dirty="0"/>
              <a:t>в две или три строки 4</a:t>
            </a:r>
            <a:r>
              <a:rPr lang="en-US" dirty="0"/>
              <a:t>4(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891E51F-E866-D546-B6A9-1BD4DA5C6D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4088" y="4444146"/>
            <a:ext cx="5149850" cy="624000"/>
          </a:xfrm>
          <a:prstGeom prst="rect">
            <a:avLst/>
          </a:prstGeom>
        </p:spPr>
        <p:txBody>
          <a:bodyPr anchor="ctr"/>
          <a:lstStyle>
            <a:lvl1pPr marL="0" algn="r" defTabSz="163196">
              <a:defRPr lang="ru-RU" sz="2133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ФИО студента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339F111-DB0F-A348-A1CD-BF940F9FF0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4088" y="5288803"/>
            <a:ext cx="5149850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ФИО, степень, должность научного руководителя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EFBEE518-6B50-F844-928B-87CCA4A592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5463" y="1036389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2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факультета, две или три строки (1</a:t>
            </a:r>
            <a:r>
              <a:rPr lang="en-US" dirty="0"/>
              <a:t>2</a:t>
            </a:r>
            <a:r>
              <a:rPr lang="ru-RU" dirty="0" err="1"/>
              <a:t>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553F67DD-344B-724B-B22E-CB70D6A4BA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539" y="1036389"/>
            <a:ext cx="2509411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2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</a:t>
            </a:r>
            <a:r>
              <a:rPr lang="en-US" dirty="0"/>
              <a:t>, </a:t>
            </a:r>
            <a:r>
              <a:rPr lang="ru-RU" dirty="0"/>
              <a:t>две или три строки (12p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9C6815FB-3A4B-8441-833A-FBD36ADFB2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13938" y="1036389"/>
            <a:ext cx="1954638" cy="624000"/>
          </a:xfrm>
          <a:prstGeom prst="rect">
            <a:avLst/>
          </a:prstGeom>
        </p:spPr>
        <p:txBody>
          <a:bodyPr anchor="ctr"/>
          <a:lstStyle>
            <a:lvl1pPr marL="0" algn="ctr" defTabSz="163196">
              <a:defRPr lang="ru-RU" sz="14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Москва 2024</a:t>
            </a:r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1FAB76A5-C756-F242-AA9E-906BC7570A93}"/>
              </a:ext>
            </a:extLst>
          </p:cNvPr>
          <p:cNvCxnSpPr>
            <a:cxnSpLocks/>
          </p:cNvCxnSpPr>
          <p:nvPr userDrawn="1"/>
        </p:nvCxnSpPr>
        <p:spPr>
          <a:xfrm>
            <a:off x="3584925" y="103638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429F97E-7D48-4542-9588-34842334FC34}"/>
              </a:ext>
            </a:extLst>
          </p:cNvPr>
          <p:cNvCxnSpPr>
            <a:cxnSpLocks/>
          </p:cNvCxnSpPr>
          <p:nvPr userDrawn="1"/>
        </p:nvCxnSpPr>
        <p:spPr>
          <a:xfrm>
            <a:off x="6101474" y="103638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F022A0-9E20-E243-B708-1F0C08162C17}"/>
              </a:ext>
            </a:extLst>
          </p:cNvPr>
          <p:cNvCxnSpPr>
            <a:cxnSpLocks/>
          </p:cNvCxnSpPr>
          <p:nvPr userDrawn="1"/>
        </p:nvCxnSpPr>
        <p:spPr>
          <a:xfrm>
            <a:off x="9900083" y="103638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25DC3A9B-F2B3-A84A-8290-8F7743FFC9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3858" y="5297864"/>
            <a:ext cx="882036" cy="6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5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Текст 26">
            <a:extLst>
              <a:ext uri="{FF2B5EF4-FFF2-40B4-BE49-F238E27FC236}">
                <a16:creationId xmlns:a16="http://schemas.microsoft.com/office/drawing/2014/main" id="{9C2D777F-AB00-EE48-9117-B35629EF1C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720975"/>
            <a:ext cx="5689601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Небольшие куски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E9EB251-8E29-2346-B8BF-D87DFA1BFE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87484" y="1339850"/>
            <a:ext cx="4968874" cy="4789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30" name="Заголовок 24">
            <a:extLst>
              <a:ext uri="{FF2B5EF4-FFF2-40B4-BE49-F238E27FC236}">
                <a16:creationId xmlns:a16="http://schemas.microsoft.com/office/drawing/2014/main" id="{B4BB1F2F-F7B8-384C-B52D-07332204F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40610"/>
            <a:ext cx="5689601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6E90630-62CA-644B-A128-4E43A0F41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9492803-25FB-7943-BDC4-2F3BB7948D95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9BA0C7-1E33-E342-9FC3-9846CA5964A8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8DA93B-4885-224A-B574-14F99D7A1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17" name="Текст 4">
            <a:extLst>
              <a:ext uri="{FF2B5EF4-FFF2-40B4-BE49-F238E27FC236}">
                <a16:creationId xmlns:a16="http://schemas.microsoft.com/office/drawing/2014/main" id="{6CE505C2-0127-A948-A645-E5344CB9F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E286A9C-2FBE-144C-9BCB-5E7FDF676F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9AE30CB3-8053-B34A-85B3-2F5F734118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2959A95-2F44-CE46-8F2A-C1BE661D76D4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536185F3-E8C3-7D4F-B789-A09863553E89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53A14AC-E154-9543-BC27-0981B383677F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6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E9EB251-8E29-2346-B8BF-D87DFA1BFE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87484" y="1339850"/>
            <a:ext cx="4968874" cy="40921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6E90630-62CA-644B-A128-4E43A0F41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9492803-25FB-7943-BDC4-2F3BB7948D95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Рисунок 28">
            <a:extLst>
              <a:ext uri="{FF2B5EF4-FFF2-40B4-BE49-F238E27FC236}">
                <a16:creationId xmlns:a16="http://schemas.microsoft.com/office/drawing/2014/main" id="{F0D9EFE8-0520-B840-A57B-7193307DFAE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7231" y="1339849"/>
            <a:ext cx="4968874" cy="40921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1141BE6E-12FB-4541-B42C-AECB4085D5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5534074"/>
            <a:ext cx="4968874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6E5B4DAF-1361-BB46-8074-058DF25738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9751" y="5534074"/>
            <a:ext cx="4968874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5ED5C-F59B-804C-8EBD-A61A582C7B59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26A7594-9381-6847-A496-64555AFD81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6" name="Текст 4">
            <a:extLst>
              <a:ext uri="{FF2B5EF4-FFF2-40B4-BE49-F238E27FC236}">
                <a16:creationId xmlns:a16="http://schemas.microsoft.com/office/drawing/2014/main" id="{90F474C5-C0E8-2A48-BC39-0E12CB7D5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CBE34F1-3131-4E4E-9BA2-CDA9482C6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CA6C1243-600A-5345-8FFB-182BD832E9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E1AF5D3-5783-1B48-B1A4-36D2522E72C4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C99CD9C-9462-8140-91B0-E33F02F3FFF0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688CA12-4D43-224F-96E7-C3D274B1CAD9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66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E9EB251-8E29-2346-B8BF-D87DFA1BFE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4965" y="2201412"/>
            <a:ext cx="3554432" cy="3328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6E90630-62CA-644B-A128-4E43A0F413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9492803-25FB-7943-BDC4-2F3BB7948D95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Рисунок 28">
            <a:extLst>
              <a:ext uri="{FF2B5EF4-FFF2-40B4-BE49-F238E27FC236}">
                <a16:creationId xmlns:a16="http://schemas.microsoft.com/office/drawing/2014/main" id="{5D9171AC-46CC-A546-B122-577A5E5BD70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19578" y="2220360"/>
            <a:ext cx="3554432" cy="3328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8">
            <a:extLst>
              <a:ext uri="{FF2B5EF4-FFF2-40B4-BE49-F238E27FC236}">
                <a16:creationId xmlns:a16="http://schemas.microsoft.com/office/drawing/2014/main" id="{D3426CCC-4032-B44D-80F1-9CB7F0367C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96916" y="2201411"/>
            <a:ext cx="3554432" cy="3328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75D0E25-B96E-4249-9D3E-CF4BBBAEBC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4" y="5727680"/>
            <a:ext cx="3554432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4" name="Текст 26">
            <a:extLst>
              <a:ext uri="{FF2B5EF4-FFF2-40B4-BE49-F238E27FC236}">
                <a16:creationId xmlns:a16="http://schemas.microsoft.com/office/drawing/2014/main" id="{04F75700-B9B5-E24C-AA85-B94E45D87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06" y="5725558"/>
            <a:ext cx="3554432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5" name="Текст 26">
            <a:extLst>
              <a:ext uri="{FF2B5EF4-FFF2-40B4-BE49-F238E27FC236}">
                <a16:creationId xmlns:a16="http://schemas.microsoft.com/office/drawing/2014/main" id="{872336F6-CF37-A247-9B5F-D0F0EB4EA2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94649" y="5725558"/>
            <a:ext cx="3554432" cy="398508"/>
          </a:xfrm>
          <a:prstGeom prst="rect">
            <a:avLst/>
          </a:prstGeom>
        </p:spPr>
        <p:txBody>
          <a:bodyPr/>
          <a:lstStyle>
            <a:lvl1pPr marL="0">
              <a:defRPr lang="ru-RU" sz="1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Наименование рисунка 12(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6" name="Заголовок 24">
            <a:extLst>
              <a:ext uri="{FF2B5EF4-FFF2-40B4-BE49-F238E27FC236}">
                <a16:creationId xmlns:a16="http://schemas.microsoft.com/office/drawing/2014/main" id="{77CBF26B-05FB-244A-9ADE-06D684782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573313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Наименование группы рисунков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4E12EC-52A8-5C4E-9651-03E0CD66E5E8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2FD07C3-596C-AC48-A841-F7DDF37BC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30" name="Текст 4">
            <a:extLst>
              <a:ext uri="{FF2B5EF4-FFF2-40B4-BE49-F238E27FC236}">
                <a16:creationId xmlns:a16="http://schemas.microsoft.com/office/drawing/2014/main" id="{0168AE6A-5814-4C4C-AE07-12BBC7CDA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B6F799AC-B214-A345-AF6C-571AC66967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53B39D8B-F91F-4242-8CEE-B3B97608F8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DD01515-AF70-824B-923A-632230561435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19656553-61D2-0E4B-93A7-5939ADC0515D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D51A5042-D9F7-5245-90CA-285899781037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0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15" y="2720974"/>
            <a:ext cx="3769488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4A3B38F-3BCC-1D40-AC1E-124A7B7C2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12051" y="2720975"/>
            <a:ext cx="3769488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B5C2B6EB-F1AC-944B-A811-F6C45510B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5987" y="2720975"/>
            <a:ext cx="3769488" cy="340836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02F285B5-5BF8-A745-BB0E-F007D7FDF6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C6D59643-23B7-F845-993C-C8BCD95015AD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530CDBD-3649-BF4D-8D22-CEC35FD37AE9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12462A3-FD13-F942-9B91-30663B3510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7" name="Текст 4">
            <a:extLst>
              <a:ext uri="{FF2B5EF4-FFF2-40B4-BE49-F238E27FC236}">
                <a16:creationId xmlns:a16="http://schemas.microsoft.com/office/drawing/2014/main" id="{AA9935B0-2817-584D-AC73-BDD1C16B46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6EBC1EE9-55FA-0F46-85AB-23D168F1F7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F339A298-8C21-AB42-B8E6-C7B960CF3C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99EDED6-F071-3648-B062-12E1BCC78200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701671A-DB91-2D4F-97C9-B789EABBFD26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15626AB-D890-3747-A539-6D9F052B7468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0610"/>
            <a:ext cx="5689600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2720974"/>
            <a:ext cx="5689598" cy="271213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B5C2B6EB-F1AC-944B-A811-F6C45510B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48902" y="2024743"/>
            <a:ext cx="4488998" cy="3408364"/>
          </a:xfrm>
          <a:prstGeom prst="rect">
            <a:avLst/>
          </a:prstGeom>
        </p:spPr>
        <p:txBody>
          <a:bodyPr/>
          <a:lstStyle>
            <a:lvl1pPr marL="0">
              <a:defRPr lang="ru-RU" sz="3600" b="0" i="1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Место для цитаты </a:t>
            </a:r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A280F049-04E6-874E-96C0-A336A3990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5517390"/>
            <a:ext cx="5689600" cy="1007235"/>
          </a:xfrm>
          <a:prstGeom prst="rect">
            <a:avLst/>
          </a:prstGeom>
        </p:spPr>
        <p:txBody>
          <a:bodyPr/>
          <a:lstStyle>
            <a:lvl1pPr marL="0">
              <a:defRPr lang="ru-RU" sz="10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7C224E-EEA1-3E4B-AF37-7222B8090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7900" y="5433107"/>
            <a:ext cx="540000" cy="54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770D5D-0A0D-3B4D-BB64-404830D24C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8902" y="1484743"/>
            <a:ext cx="540000" cy="540000"/>
          </a:xfrm>
          <a:prstGeom prst="rect">
            <a:avLst/>
          </a:prstGeom>
        </p:spPr>
      </p:pic>
      <p:sp>
        <p:nvSpPr>
          <p:cNvPr id="24" name="Текст 26">
            <a:extLst>
              <a:ext uri="{FF2B5EF4-FFF2-40B4-BE49-F238E27FC236}">
                <a16:creationId xmlns:a16="http://schemas.microsoft.com/office/drawing/2014/main" id="{A5CDD662-F449-124B-BE22-DEDDC2FF8A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9FD9FA6-EB6D-B44F-A550-F88BA7D5FF87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A8484A-73DD-C040-B9C4-2C33B65396C2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2EE2139-0685-114F-80CB-AA9CBB2207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9" name="Текст 4">
            <a:extLst>
              <a:ext uri="{FF2B5EF4-FFF2-40B4-BE49-F238E27FC236}">
                <a16:creationId xmlns:a16="http://schemas.microsoft.com/office/drawing/2014/main" id="{E04D21A6-6A33-124B-ABF3-CD53309D76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62AA9DC1-A792-D94B-8936-089369343B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8821F9A-5AA0-E740-B83A-CF98E96730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ABAE55D-FF73-0C42-BF8C-E00B4643C929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406B0339-367E-B646-8773-047743ADC961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6B7E55EF-773E-244C-ADDB-49CF72339C2C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17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40610"/>
            <a:ext cx="5689601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720974"/>
            <a:ext cx="5689599" cy="2712133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4" name="Диаграмма 3">
            <a:extLst>
              <a:ext uri="{FF2B5EF4-FFF2-40B4-BE49-F238E27FC236}">
                <a16:creationId xmlns:a16="http://schemas.microsoft.com/office/drawing/2014/main" id="{EB6AC651-4541-CA4F-8013-79F8FE3B021E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27378" y="1339850"/>
            <a:ext cx="5131246" cy="4789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C27FD206-A456-6445-92B0-A67D77472D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4" name="Текст 26">
            <a:extLst>
              <a:ext uri="{FF2B5EF4-FFF2-40B4-BE49-F238E27FC236}">
                <a16:creationId xmlns:a16="http://schemas.microsoft.com/office/drawing/2014/main" id="{85D4D81A-49D2-5740-AB00-BDD62E63D0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C268C17-D8D6-7141-9ADD-2B0EAC3B4C33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498383-0427-4D4E-AEBC-91CCD6873C59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D274541-9940-544E-8137-ABDAF7B9E3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8" name="Текст 4">
            <a:extLst>
              <a:ext uri="{FF2B5EF4-FFF2-40B4-BE49-F238E27FC236}">
                <a16:creationId xmlns:a16="http://schemas.microsoft.com/office/drawing/2014/main" id="{8572B25A-EEE3-8140-8393-55F225FF75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114A106E-791B-6D42-94B1-021CEC772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D0DCCE3A-CE51-284A-B2A2-BE3BF2791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491864C6-6A4C-A34D-AA6D-026BACE3F8BF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F2041D7-24D5-C441-986E-28A6FB1B114C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197484F7-0101-014B-95AA-98E316F274B1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40610"/>
            <a:ext cx="5689601" cy="901847"/>
          </a:xfrm>
          <a:prstGeom prst="rect">
            <a:avLst/>
          </a:prstGeom>
        </p:spPr>
        <p:txBody>
          <a:bodyPr/>
          <a:lstStyle>
            <a:lvl1pPr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r>
              <a:rPr lang="ru-RU" dirty="0"/>
              <a:t>Название графика, название графика имеет кегль больше, чем основной текст (16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416630"/>
            <a:ext cx="5689599" cy="3016478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A280F049-04E6-874E-96C0-A336A3990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78D52C51-3944-FA4D-9486-75B9663298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4A03196-78B8-E442-B319-3AD5D6C42534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8000AD-5AAC-544D-B364-BF224D44E571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3824B31-4D06-6C45-B9FD-F9EAA77DE3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6" name="Текст 4">
            <a:extLst>
              <a:ext uri="{FF2B5EF4-FFF2-40B4-BE49-F238E27FC236}">
                <a16:creationId xmlns:a16="http://schemas.microsoft.com/office/drawing/2014/main" id="{688A8DFC-DA50-1648-961C-5760B98F49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650A3CC3-16F8-6249-A616-AC6179612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5F538EF1-8CC8-AC43-A895-7BEBBFDC5F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AC2E0B1-DB7A-4348-9924-5E1C4A3A002E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38C657C-0A84-8342-95ED-CD3BA7F127C4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AAE53AC-EC0C-7D4A-BC51-CD6E3EC70890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Диаграмма 3">
            <a:extLst>
              <a:ext uri="{FF2B5EF4-FFF2-40B4-BE49-F238E27FC236}">
                <a16:creationId xmlns:a16="http://schemas.microsoft.com/office/drawing/2014/main" id="{E414F01B-A143-2E49-A8F3-8FCAB4C2F8C1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27378" y="1339850"/>
            <a:ext cx="5131246" cy="4789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00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6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001" y="4216555"/>
            <a:ext cx="3228523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4A3B38F-3BCC-1D40-AC1E-124A7B7C2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3419" y="4216556"/>
            <a:ext cx="3228523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B5C2B6EB-F1AC-944B-A811-F6C45510B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7836" y="4216556"/>
            <a:ext cx="3228523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939E8763-9814-184B-90B2-0B3AB8EC9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001" y="2699663"/>
            <a:ext cx="3228523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88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88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73E8C77E-D650-0942-905F-1526841144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3419" y="2699664"/>
            <a:ext cx="3228523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88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88</a:t>
            </a:r>
          </a:p>
        </p:txBody>
      </p:sp>
      <p:sp>
        <p:nvSpPr>
          <p:cNvPr id="24" name="Текст 26">
            <a:extLst>
              <a:ext uri="{FF2B5EF4-FFF2-40B4-BE49-F238E27FC236}">
                <a16:creationId xmlns:a16="http://schemas.microsoft.com/office/drawing/2014/main" id="{D54F7FE1-0F7D-3A4B-83E7-513381AF93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7836" y="2699664"/>
            <a:ext cx="3228523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88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88</a:t>
            </a:r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78BF2A4C-89CB-2947-A5DC-C2A4317FF6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5F9F732-93B3-3C4C-BC1F-E19F0B1D6C14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C6DC0E-178D-B341-9D21-55D570C8F932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98C8564-F7F9-3A43-8532-67AF50ED0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30" name="Текст 4">
            <a:extLst>
              <a:ext uri="{FF2B5EF4-FFF2-40B4-BE49-F238E27FC236}">
                <a16:creationId xmlns:a16="http://schemas.microsoft.com/office/drawing/2014/main" id="{B42FE51A-67E6-D64A-A410-CCD177E0C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C911965E-1D6C-5B4C-B61D-5179D7D36E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DDAFE819-62DC-724E-BE0E-164F5F8E99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2380CDB3-950A-9646-9B2C-151ADF500455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DB2FCCBB-234D-8647-9181-D6FF1BE471A7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1E73DE8-8DA5-8A49-8ABC-45D9B7BCCDBA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6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1181100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0072"/>
                </a:solidFill>
              </a:defRPr>
            </a:lvl1pPr>
          </a:lstStyle>
          <a:p>
            <a:r>
              <a:rPr lang="ru-RU" dirty="0"/>
              <a:t>Заголовок может занимать две или три строки (24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44FA6C88-867C-734E-97FA-D17EE489AF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002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16" name="Текст 26">
            <a:extLst>
              <a:ext uri="{FF2B5EF4-FFF2-40B4-BE49-F238E27FC236}">
                <a16:creationId xmlns:a16="http://schemas.microsoft.com/office/drawing/2014/main" id="{939E8763-9814-184B-90B2-0B3AB8EC9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002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 algn="ctr">
              <a:defRPr lang="ru-RU" sz="7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72</a:t>
            </a:r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78BF2A4C-89CB-2947-A5DC-C2A4317FF6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5F9F732-93B3-3C4C-BC1F-E19F0B1D6C14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26">
            <a:extLst>
              <a:ext uri="{FF2B5EF4-FFF2-40B4-BE49-F238E27FC236}">
                <a16:creationId xmlns:a16="http://schemas.microsoft.com/office/drawing/2014/main" id="{01755D45-717D-274B-B65E-BE413A8DF3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42974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29" name="Текст 26">
            <a:extLst>
              <a:ext uri="{FF2B5EF4-FFF2-40B4-BE49-F238E27FC236}">
                <a16:creationId xmlns:a16="http://schemas.microsoft.com/office/drawing/2014/main" id="{2AAD73FF-5F9E-5549-95D3-AFF26636C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42974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 algn="ctr">
              <a:defRPr lang="ru-RU" sz="72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72</a:t>
            </a:r>
          </a:p>
        </p:txBody>
      </p:sp>
      <p:sp>
        <p:nvSpPr>
          <p:cNvPr id="30" name="Текст 26">
            <a:extLst>
              <a:ext uri="{FF2B5EF4-FFF2-40B4-BE49-F238E27FC236}">
                <a16:creationId xmlns:a16="http://schemas.microsoft.com/office/drawing/2014/main" id="{73381E18-3441-D046-AC92-5B040D358C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6946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31" name="Текст 26">
            <a:extLst>
              <a:ext uri="{FF2B5EF4-FFF2-40B4-BE49-F238E27FC236}">
                <a16:creationId xmlns:a16="http://schemas.microsoft.com/office/drawing/2014/main" id="{23EC6B34-4977-5545-8772-921CD7B9A4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26946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 algn="ctr">
              <a:defRPr lang="ru-RU" sz="72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72</a:t>
            </a:r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4F361081-C05B-BF40-95A8-AF693DDBAC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10918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33" name="Текст 26">
            <a:extLst>
              <a:ext uri="{FF2B5EF4-FFF2-40B4-BE49-F238E27FC236}">
                <a16:creationId xmlns:a16="http://schemas.microsoft.com/office/drawing/2014/main" id="{D0D4F9DC-998D-2B4A-AC6B-1E4F01F938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10918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72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72</a:t>
            </a:r>
          </a:p>
        </p:txBody>
      </p:sp>
      <p:sp>
        <p:nvSpPr>
          <p:cNvPr id="34" name="Текст 26">
            <a:extLst>
              <a:ext uri="{FF2B5EF4-FFF2-40B4-BE49-F238E27FC236}">
                <a16:creationId xmlns:a16="http://schemas.microsoft.com/office/drawing/2014/main" id="{0DF29482-0EDF-704A-AFFE-33AAE6B350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94888" y="4216555"/>
            <a:ext cx="1964050" cy="1912782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Аккуратные подписи к большим цифрам (13</a:t>
            </a:r>
            <a:r>
              <a:rPr lang="en" dirty="0" err="1"/>
              <a:t>pt</a:t>
            </a:r>
            <a:r>
              <a:rPr lang="en" dirty="0"/>
              <a:t>) </a:t>
            </a:r>
            <a:endParaRPr lang="ru-RU" dirty="0"/>
          </a:p>
        </p:txBody>
      </p:sp>
      <p:sp>
        <p:nvSpPr>
          <p:cNvPr id="35" name="Текст 26">
            <a:extLst>
              <a:ext uri="{FF2B5EF4-FFF2-40B4-BE49-F238E27FC236}">
                <a16:creationId xmlns:a16="http://schemas.microsoft.com/office/drawing/2014/main" id="{3A8B23B8-3CA0-4147-B2F1-24D8DCE1AE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94888" y="2699663"/>
            <a:ext cx="1964050" cy="1338939"/>
          </a:xfrm>
          <a:prstGeom prst="rect">
            <a:avLst/>
          </a:prstGeom>
        </p:spPr>
        <p:txBody>
          <a:bodyPr anchor="ctr"/>
          <a:lstStyle>
            <a:lvl1pPr marL="0">
              <a:defRPr lang="ru-RU" sz="72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72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20AE5-4DC6-9E4D-BDDA-145F3E05660B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CBB57C0-E158-734A-A308-1D870D086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37" name="Текст 4">
            <a:extLst>
              <a:ext uri="{FF2B5EF4-FFF2-40B4-BE49-F238E27FC236}">
                <a16:creationId xmlns:a16="http://schemas.microsoft.com/office/drawing/2014/main" id="{F3553B5A-0B13-3F4F-BE0A-0357377CDC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D6899F38-B8C5-C046-B709-72EAB8B890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3656B76-9528-9F42-8C43-3993BCB3FB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25C7C5B1-4205-CC4B-98BB-F6A1D1FFC399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13F108D6-96B9-444F-923A-F51B855B2554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6C1D2620-C475-B049-862C-BF4513EBBF16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65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5" y="1340610"/>
            <a:ext cx="11510495" cy="398507"/>
          </a:xfrm>
          <a:prstGeom prst="rect">
            <a:avLst/>
          </a:prstGeom>
        </p:spPr>
        <p:txBody>
          <a:bodyPr/>
          <a:lstStyle>
            <a:lvl1pPr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Название таблицы, название имеет кегль больше, чем основной текст (16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Таблица 3">
            <a:extLst>
              <a:ext uri="{FF2B5EF4-FFF2-40B4-BE49-F238E27FC236}">
                <a16:creationId xmlns:a16="http://schemas.microsoft.com/office/drawing/2014/main" id="{B2FEC73C-8A1F-5A4C-B67D-479635F6E7F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4963" y="2057400"/>
            <a:ext cx="11510494" cy="345999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9AE06B96-5C60-FE46-BA04-27F66B839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5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66A0A652-5D11-434C-894F-869458D184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F0CE56D-10FF-E942-A589-7303A8381452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DA0E8AB-96E6-DF4C-88CB-F53BE626E121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E7A44C-1D79-174D-BBA8-3323F40E1B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17" name="Текст 4">
            <a:extLst>
              <a:ext uri="{FF2B5EF4-FFF2-40B4-BE49-F238E27FC236}">
                <a16:creationId xmlns:a16="http://schemas.microsoft.com/office/drawing/2014/main" id="{4BA02E91-CA13-D84D-B261-DDC0C2242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07455FFC-25BD-0448-8F57-8BC5C6C815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31EC3848-4D14-964D-BC4B-5FB7125D3A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8F6B169-B5E8-E24D-9288-644B054FDA56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03820B0-D7BB-9141-B789-17B15B76BC1F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539111C-3552-0740-9E06-490EBEB318EC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774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>
            <a:extLst>
              <a:ext uri="{FF2B5EF4-FFF2-40B4-BE49-F238E27FC236}">
                <a16:creationId xmlns:a16="http://schemas.microsoft.com/office/drawing/2014/main" id="{A1241260-B41F-F948-8C16-10F7AC54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116" y="1340610"/>
            <a:ext cx="7021512" cy="624000"/>
          </a:xfrm>
          <a:prstGeom prst="rect">
            <a:avLst/>
          </a:prstGeom>
        </p:spPr>
        <p:txBody>
          <a:bodyPr/>
          <a:lstStyle>
            <a:lvl1pPr>
              <a:defRPr lang="ru-RU" sz="1600" b="0" i="0" u="none" strike="noStrike" cap="none" dirty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Название таблицы, название имеет кегль больше, чем основной текст (16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Таблица 3">
            <a:extLst>
              <a:ext uri="{FF2B5EF4-FFF2-40B4-BE49-F238E27FC236}">
                <a16:creationId xmlns:a16="http://schemas.microsoft.com/office/drawing/2014/main" id="{B2FEC73C-8A1F-5A4C-B67D-479635F6E7F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34963" y="2297840"/>
            <a:ext cx="7021512" cy="321955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6" name="Текст 26">
            <a:extLst>
              <a:ext uri="{FF2B5EF4-FFF2-40B4-BE49-F238E27FC236}">
                <a16:creationId xmlns:a16="http://schemas.microsoft.com/office/drawing/2014/main" id="{9AE06B96-5C60-FE46-BA04-27F66B839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5607281"/>
            <a:ext cx="5689601" cy="522058"/>
          </a:xfrm>
          <a:prstGeom prst="rect">
            <a:avLst/>
          </a:prstGeom>
        </p:spPr>
        <p:txBody>
          <a:bodyPr/>
          <a:lstStyle>
            <a:lvl1pPr marL="0">
              <a:defRPr lang="ru-RU" sz="105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Чуть чуть места для примечаний 10(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C0E26C6B-F6A0-094C-A1C5-27104F7BEB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5777" y="2297838"/>
            <a:ext cx="4219696" cy="3219551"/>
          </a:xfrm>
          <a:prstGeom prst="rect">
            <a:avLst/>
          </a:prstGeom>
        </p:spPr>
        <p:txBody>
          <a:bodyPr/>
          <a:lstStyle>
            <a:lvl1pPr marL="0"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Немного текста (13</a:t>
            </a:r>
            <a:r>
              <a:rPr lang="en" dirty="0" err="1"/>
              <a:t>pt</a:t>
            </a:r>
            <a:r>
              <a:rPr lang="en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Старайтесь чтобы в строке было в среднем семь — девять слов.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Большее количество слов в строке способствует хорошему сну, но не чтению. </a:t>
            </a:r>
          </a:p>
        </p:txBody>
      </p:sp>
      <p:sp>
        <p:nvSpPr>
          <p:cNvPr id="15" name="Текст 26">
            <a:extLst>
              <a:ext uri="{FF2B5EF4-FFF2-40B4-BE49-F238E27FC236}">
                <a16:creationId xmlns:a16="http://schemas.microsoft.com/office/drawing/2014/main" id="{A07C2DDC-C559-C54D-B29F-F6585D0A4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89CAF29-BC1D-294A-9E39-FC9CBB762E80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66C8648-4323-EC43-B62F-A37F9866FD9D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44D18C-0663-AA44-A2CF-428C581FD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27" name="Текст 4">
            <a:extLst>
              <a:ext uri="{FF2B5EF4-FFF2-40B4-BE49-F238E27FC236}">
                <a16:creationId xmlns:a16="http://schemas.microsoft.com/office/drawing/2014/main" id="{1F61EBFF-1CD5-8640-B924-2C7074D9A6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026E4634-0561-C441-A02D-8F3CA6265B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A98D3387-F0BC-4140-BD74-B4DAEB4E0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4EA09417-A5EE-C34B-8C5E-1A4BA701B257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E28F12A-9566-844B-8206-33AEE94BF9A3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61944F9-74D1-CD40-AC21-4497E1CEED77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087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6">
            <a:extLst>
              <a:ext uri="{FF2B5EF4-FFF2-40B4-BE49-F238E27FC236}">
                <a16:creationId xmlns:a16="http://schemas.microsoft.com/office/drawing/2014/main" id="{2D70CAC7-EDDA-5B44-BE56-00A971ED50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6757" y="6129337"/>
            <a:ext cx="5689601" cy="395287"/>
          </a:xfrm>
          <a:prstGeom prst="rect">
            <a:avLst/>
          </a:prstGeom>
        </p:spPr>
        <p:txBody>
          <a:bodyPr anchor="ctr"/>
          <a:lstStyle>
            <a:lvl1pPr marL="0" algn="r">
              <a:defRPr lang="ru-RU" sz="1000" b="0" i="0" u="none" strike="noStrike" cap="none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lvl="0"/>
            <a:r>
              <a:rPr lang="ru-RU" dirty="0"/>
              <a:t>ФИО студента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0E02F32-DA69-7E44-8516-053C029C48FE}"/>
              </a:ext>
            </a:extLst>
          </p:cNvPr>
          <p:cNvCxnSpPr>
            <a:cxnSpLocks/>
          </p:cNvCxnSpPr>
          <p:nvPr userDrawn="1"/>
        </p:nvCxnSpPr>
        <p:spPr>
          <a:xfrm>
            <a:off x="6166757" y="6218121"/>
            <a:ext cx="568960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629622E-7D94-5543-A6AE-B60F20093723}"/>
              </a:ext>
            </a:extLst>
          </p:cNvPr>
          <p:cNvSpPr txBox="1"/>
          <p:nvPr userDrawn="1"/>
        </p:nvSpPr>
        <p:spPr>
          <a:xfrm>
            <a:off x="11240964" y="420793"/>
            <a:ext cx="618147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667" b="0" i="0" smtClean="0">
                <a:solidFill>
                  <a:srgbClr val="00007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‹#›</a:t>
            </a:fld>
            <a:endParaRPr lang="ru-RU" sz="2667" b="0" i="0" dirty="0">
              <a:solidFill>
                <a:srgbClr val="00007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FDD0ABC-D0CC-B743-8F1A-C5DBCE174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63" y="320449"/>
            <a:ext cx="1343288" cy="398507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99CF3D6A-5C35-E144-9472-A53052C933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23051" y="309563"/>
            <a:ext cx="2502125" cy="624000"/>
          </a:xfrm>
          <a:prstGeom prst="rect">
            <a:avLst/>
          </a:prstGeom>
        </p:spPr>
        <p:txBody>
          <a:bodyPr anchor="ctr"/>
          <a:lstStyle>
            <a:lvl1pPr marL="0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Наименование подразделения,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0F6BE50F-4E02-AB42-9081-0318E4E2C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5127" y="309563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презентации,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593C14C-1FDC-5945-ACDA-DF4B24EB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39631" y="320449"/>
            <a:ext cx="2509200" cy="624000"/>
          </a:xfrm>
          <a:prstGeom prst="rect">
            <a:avLst/>
          </a:prstGeom>
        </p:spPr>
        <p:txBody>
          <a:bodyPr anchor="ctr"/>
          <a:lstStyle>
            <a:lvl1pPr marL="0" algn="l" defTabSz="163196">
              <a:defRPr lang="ru-RU" sz="1000" b="0" i="0" u="none" strike="noStrike" cap="none" dirty="0">
                <a:solidFill>
                  <a:schemeClr val="tx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Название раздела, две или три строки (10p</a:t>
            </a:r>
            <a:r>
              <a:rPr lang="en-US" dirty="0"/>
              <a:t>t)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E733B1E5-79F4-8542-B41C-FB88DF7271CF}"/>
              </a:ext>
            </a:extLst>
          </p:cNvPr>
          <p:cNvCxnSpPr>
            <a:cxnSpLocks/>
          </p:cNvCxnSpPr>
          <p:nvPr userDrawn="1"/>
        </p:nvCxnSpPr>
        <p:spPr>
          <a:xfrm>
            <a:off x="2312513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CE945C7A-E208-5444-8266-06DB9C029152}"/>
              </a:ext>
            </a:extLst>
          </p:cNvPr>
          <p:cNvCxnSpPr>
            <a:cxnSpLocks/>
          </p:cNvCxnSpPr>
          <p:nvPr userDrawn="1"/>
        </p:nvCxnSpPr>
        <p:spPr>
          <a:xfrm>
            <a:off x="4829062" y="309563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CA2CCA6-8C10-0F4A-969E-3148BC7A4E75}"/>
              </a:ext>
            </a:extLst>
          </p:cNvPr>
          <p:cNvCxnSpPr>
            <a:cxnSpLocks/>
          </p:cNvCxnSpPr>
          <p:nvPr userDrawn="1"/>
        </p:nvCxnSpPr>
        <p:spPr>
          <a:xfrm>
            <a:off x="7625776" y="320449"/>
            <a:ext cx="0" cy="576000"/>
          </a:xfrm>
          <a:prstGeom prst="line">
            <a:avLst/>
          </a:prstGeom>
          <a:ln>
            <a:solidFill>
              <a:srgbClr val="0F2B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999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4DC2ADE-5AF9-3B4E-92C9-994574D9C64F}"/>
              </a:ext>
            </a:extLst>
          </p:cNvPr>
          <p:cNvSpPr/>
          <p:nvPr userDrawn="1"/>
        </p:nvSpPr>
        <p:spPr>
          <a:xfrm>
            <a:off x="0" y="0"/>
            <a:ext cx="12193588" cy="6867939"/>
          </a:xfrm>
          <a:prstGeom prst="rect">
            <a:avLst/>
          </a:prstGeom>
          <a:solidFill>
            <a:srgbClr val="0000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67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47278F-9137-E74F-B15F-DDC5A1E1C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61203" y="2862943"/>
            <a:ext cx="3815643" cy="1132114"/>
          </a:xfrm>
          <a:prstGeom prst="rect">
            <a:avLst/>
          </a:prstGeom>
        </p:spPr>
      </p:pic>
      <p:sp>
        <p:nvSpPr>
          <p:cNvPr id="21" name="Текст 4">
            <a:extLst>
              <a:ext uri="{FF2B5EF4-FFF2-40B4-BE49-F238E27FC236}">
                <a16:creationId xmlns:a16="http://schemas.microsoft.com/office/drawing/2014/main" id="{918E5703-3B7C-CB45-A174-11E9862E3F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13938" y="1036389"/>
            <a:ext cx="1954638" cy="624000"/>
          </a:xfrm>
          <a:prstGeom prst="rect">
            <a:avLst/>
          </a:prstGeom>
        </p:spPr>
        <p:txBody>
          <a:bodyPr anchor="ctr"/>
          <a:lstStyle>
            <a:lvl1pPr marL="0" algn="ctr" defTabSz="163196">
              <a:defRPr lang="ru-RU" sz="1400" b="0" i="0" u="none" strike="noStrike" cap="none" dirty="0">
                <a:solidFill>
                  <a:schemeClr val="bg1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</a:lstStyle>
          <a:p>
            <a:pPr marL="0" marR="0" lvl="0" indent="0" algn="l" defTabSz="16319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</a:pPr>
            <a:r>
              <a:rPr lang="ru-RU" dirty="0"/>
              <a:t>Москва 2024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8B85831-F74F-044D-AE3E-77F87B6D566D}"/>
              </a:ext>
            </a:extLst>
          </p:cNvPr>
          <p:cNvCxnSpPr>
            <a:cxnSpLocks/>
          </p:cNvCxnSpPr>
          <p:nvPr userDrawn="1"/>
        </p:nvCxnSpPr>
        <p:spPr>
          <a:xfrm>
            <a:off x="9900083" y="1036389"/>
            <a:ext cx="0" cy="5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35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5" r:id="rId3"/>
    <p:sldLayoutId id="214748368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7" r:id="rId10"/>
    <p:sldLayoutId id="2147483681" r:id="rId11"/>
    <p:sldLayoutId id="2147483682" r:id="rId12"/>
    <p:sldLayoutId id="2147483683" r:id="rId13"/>
    <p:sldLayoutId id="214748368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292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70" userDrawn="1">
          <p15:clr>
            <a:srgbClr val="F26B43"/>
          </p15:clr>
        </p15:guide>
        <p15:guide id="4" orient="horz" pos="4110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7" orient="horz" pos="845" userDrawn="1">
          <p15:clr>
            <a:srgbClr val="F26B43"/>
          </p15:clr>
        </p15:guide>
        <p15:guide id="8" orient="horz" pos="3861" userDrawn="1">
          <p15:clr>
            <a:srgbClr val="FBAE40"/>
          </p15:clr>
        </p15:guide>
        <p15:guide id="9" pos="3795" userDrawn="1">
          <p15:clr>
            <a:srgbClr val="F26B43"/>
          </p15:clr>
        </p15:guide>
        <p15:guide id="10" orient="horz" pos="459" userDrawn="1">
          <p15:clr>
            <a:srgbClr val="FBAE40"/>
          </p15:clr>
        </p15:guide>
        <p15:guide id="11" pos="4634" userDrawn="1">
          <p15:clr>
            <a:srgbClr val="FBAE40"/>
          </p15:clr>
        </p15:guide>
        <p15:guide id="12" pos="3047" userDrawn="1">
          <p15:clr>
            <a:srgbClr val="FBAE40"/>
          </p15:clr>
        </p15:guide>
        <p15:guide id="13" pos="2253" userDrawn="1">
          <p15:clr>
            <a:srgbClr val="FBAE40"/>
          </p15:clr>
        </p15:guide>
        <p15:guide id="14" orient="horz" pos="2251" userDrawn="1">
          <p15:clr>
            <a:srgbClr val="F26B43"/>
          </p15:clr>
        </p15:guide>
        <p15:guide id="15" pos="5428" userDrawn="1">
          <p15:clr>
            <a:srgbClr val="FBAE40"/>
          </p15:clr>
        </p15:guide>
        <p15:guide id="16" pos="6222" userDrawn="1">
          <p15:clr>
            <a:srgbClr val="FBAE40"/>
          </p15:clr>
        </p15:guide>
        <p15:guide id="17" pos="1459" userDrawn="1">
          <p15:clr>
            <a:srgbClr val="FBAE40"/>
          </p15:clr>
        </p15:guide>
        <p15:guide id="18" pos="665" userDrawn="1">
          <p15:clr>
            <a:srgbClr val="FBAE40"/>
          </p15:clr>
        </p15:guide>
        <p15:guide id="19" pos="7016" userDrawn="1">
          <p15:clr>
            <a:srgbClr val="FBAE40"/>
          </p15:clr>
        </p15:guide>
        <p15:guide id="21" pos="38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A8846-B248-1548-8B76-3A790378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70" y="1889380"/>
            <a:ext cx="9285068" cy="2450107"/>
          </a:xfrm>
        </p:spPr>
        <p:txBody>
          <a:bodyPr/>
          <a:lstStyle/>
          <a:p>
            <a:pPr algn="ctr"/>
            <a:r>
              <a:rPr lang="ru-RU" sz="3600" dirty="0"/>
              <a:t>Практическая работа №1</a:t>
            </a:r>
            <a:endParaRPr lang="ru-RU" sz="3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10634E-D737-3C4B-8EA2-D8F666927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6525" y="5194765"/>
            <a:ext cx="5149850" cy="624000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282464-8E73-E140-942F-FC9DCD36A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геоинформатики</a:t>
            </a:r>
          </a:p>
          <a:p>
            <a:r>
              <a:rPr lang="ru-RU" dirty="0"/>
              <a:t>и информационной безопасности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2BC3EE3-4C48-DC47-8B79-99F361A123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Кафедра информационно-измерительных систем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2BE2587-2832-D14E-9C0E-A78140FFCA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Москва 2025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041B46F-1A24-4352-873E-3DBFB00B0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27450"/>
            <a:ext cx="12193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2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Токены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Что это?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Фундаментальные единицы текста, с которыми работают LLM. Это не всегда целые слова; они могут быть частями слов, знаками препинания, пробелами или специальными символами.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Пример: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Фраза "Я люблю LLM!" может быть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токенизирована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как ["Я", " ", "люблю", " ", "LLM", "!"] (6 токенов) или ["Я", " люблю", " LLM", "!"] (4 токена), в зависимости от конкретного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токенизатора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Важность: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Компьютеры работают с числами, поэтому текст сначала разбивается на токены, которые затем преобразуются в числовые векторы (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эмбеддинги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). Количество токенов напрямую влияет на контекстное окно, стоимость использования API и скорость генерации ответа.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4218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Токены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Что это?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Числовые представления слов, фраз, предложений или целых документов в многомерном пространстве. Каждое текстовое значение преобразуется в вектор чисел.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Как работают: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Тексты, схожие по смыслу, будут иметь векторные встраивания, расположенные близко друг к другу в этом многомерном пространстве.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Пример:</a:t>
            </a:r>
          </a:p>
          <a:p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Слово "король" может быть представлено вектором: [0.1, -0.5, 0.8, ..., 0.2]</a:t>
            </a:r>
          </a:p>
          <a:p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Слово "королева" может быть представлено вектором: [0.15, -0.4, 0.7, ..., 0.25]</a:t>
            </a:r>
          </a:p>
          <a:p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Слово "яблоко" может быть представлено вектором: [-0.9, 0.3, 0.1, ..., -0.8]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935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Контекстное Окно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Что это?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Максимальное количество токенов (входных и выходных), которое LLM может обработать или "помнить" за один раз. Это "окно" определяет объем информации, который модель может учитывать.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Пример: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Если контекстное окно LLM составляет 4000 токенов, то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промпт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на 2000 токенов оставит 2000 токенов для ответа.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Важность: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Определяет максимальную длину текстов, которые модель может анализировать, и длительность диалога, который она может поддерживать без "забывания" предыдущих реплик. Большое контекстное окно обычно означает более высокую стоимость и меньшую скорость.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567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Промпт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(Вопрос)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Что это?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Текстовая инструкция, вопрос, запрос или примеры, которые вы подаете LLM, чтобы получить желаемый ответ. Это основной способ взаимодействия с моделью.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Пример: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"Напиши короткое стихотворение о коте.", "Ты — эксперт по маркетингу. Напиши 5 заголовков для поста в блоге о пользе медитации."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Важность: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Качество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промпта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напрямую определяет качество ответа модели. Искусство составления эффективных промптов называется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Prompt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Engineering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2428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  <a:tab pos="1436688" algn="l"/>
              </a:tabLst>
            </a:pPr>
            <a:r>
              <a:rPr lang="ru-RU" sz="1800" b="1" dirty="0">
                <a:latin typeface="Times New Roman" panose="02020603050405020304" pitchFamily="18" charset="0"/>
                <a:cs typeface="DokChampa" panose="020B0604020202020204" pitchFamily="34" charset="-34"/>
              </a:rPr>
              <a:t>Что это? </a:t>
            </a: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Параметр, который контролирует "креативность" или "случайность" ответов LLM.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  <a:tab pos="1436688" algn="l"/>
              </a:tabLst>
            </a:pPr>
            <a:r>
              <a:rPr lang="ru-RU" sz="1800" b="1" dirty="0">
                <a:latin typeface="Times New Roman" panose="02020603050405020304" pitchFamily="18" charset="0"/>
                <a:cs typeface="DokChampa" panose="020B0604020202020204" pitchFamily="34" charset="-34"/>
              </a:rPr>
              <a:t>Как работает:</a:t>
            </a:r>
          </a:p>
          <a:p>
            <a:pPr marL="457200"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  <a:tab pos="1436688" algn="l"/>
              </a:tabLst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cs typeface="DokChampa" panose="020B0604020202020204" pitchFamily="34" charset="-34"/>
              </a:rPr>
              <a:t>Низкая температура (ближе к 0):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DokChampa" panose="020B0604020202020204" pitchFamily="34" charset="-34"/>
              </a:rPr>
              <a:t>Модель выбирает наиболее вероятные токены, делая ответы более детерминированными, предсказуемыми и "фактическими".</a:t>
            </a:r>
          </a:p>
          <a:p>
            <a:pPr marL="457200"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  <a:tab pos="1436688" algn="l"/>
              </a:tabLst>
            </a:pPr>
            <a:r>
              <a:rPr lang="ru-RU" sz="1800" b="1" dirty="0">
                <a:solidFill>
                  <a:srgbClr val="000072"/>
                </a:solidFill>
                <a:latin typeface="Times New Roman" panose="02020603050405020304" pitchFamily="18" charset="0"/>
                <a:cs typeface="DokChampa" panose="020B0604020202020204" pitchFamily="34" charset="-34"/>
              </a:rPr>
              <a:t>Высокая температура (ближе к 1 или выше): </a:t>
            </a:r>
            <a:r>
              <a:rPr lang="ru-RU" sz="1800" dirty="0">
                <a:solidFill>
                  <a:srgbClr val="000072"/>
                </a:solidFill>
                <a:latin typeface="Times New Roman" panose="02020603050405020304" pitchFamily="18" charset="0"/>
                <a:cs typeface="DokChampa" panose="020B0604020202020204" pitchFamily="34" charset="-34"/>
              </a:rPr>
              <a:t>Модель охотнее выбирает менее вероятные токены, делая ответы более разнообразными, креативными, но иногда и "галлюцинаторными".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  <a:tab pos="1436688" algn="l"/>
              </a:tabLst>
            </a:pPr>
            <a:r>
              <a:rPr lang="ru-RU" sz="1800" b="1" dirty="0">
                <a:latin typeface="Times New Roman" panose="02020603050405020304" pitchFamily="18" charset="0"/>
                <a:cs typeface="DokChampa" panose="020B0604020202020204" pitchFamily="34" charset="-34"/>
              </a:rPr>
              <a:t>Важность: </a:t>
            </a: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Позволяет адаптировать поведение LLM под конкретную задачу, от точного </a:t>
            </a:r>
            <a:r>
              <a:rPr lang="ru-RU" sz="1800" dirty="0" err="1">
                <a:latin typeface="Times New Roman" panose="02020603050405020304" pitchFamily="18" charset="0"/>
                <a:cs typeface="DokChampa" panose="020B0604020202020204" pitchFamily="34" charset="-34"/>
              </a:rPr>
              <a:t>суммаризации</a:t>
            </a:r>
            <a:r>
              <a:rPr lang="ru-RU" sz="1800" dirty="0">
                <a:latin typeface="Times New Roman" panose="02020603050405020304" pitchFamily="18" charset="0"/>
                <a:cs typeface="DokChampa" panose="020B0604020202020204" pitchFamily="34" charset="-34"/>
              </a:rPr>
              <a:t> до творческого письма.</a:t>
            </a:r>
          </a:p>
        </p:txBody>
      </p:sp>
    </p:spTree>
    <p:extLst>
      <p:ext uri="{BB962C8B-B14F-4D97-AF65-F5344CB8AC3E}">
        <p14:creationId xmlns:p14="http://schemas.microsoft.com/office/powerpoint/2010/main" val="52747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(Nucleus Sampling)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1450454" y="2521710"/>
            <a:ext cx="9278545" cy="3402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Что это?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Ещё один параметр для контроля разнообразия вывода, часто используемый вместе с температурой или вместо нее. Он определяет набор токенов, из которых модель будет выбирать следующее слово.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Как работает: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Модель выбирает следующее слово из наименьшего набора токенов, чья суммарная вероятность превышает заданное значение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top_p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. Например,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top_p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=0.9 означает выбор из токенов, которые составляют 90% наиболее вероятных вариантов.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Важность: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 Предоставляет более тонкий контроль над случайностью по сравнению с температурой, что полезно для задач, требующих креативности без полного "разброса" ответов.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DokChampa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34321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244B073-1237-49A8-B4F5-BEE5097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использования в геоинформатике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E109ABF-D9BA-4A62-8930-B42EA817EB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009" y="6186693"/>
            <a:ext cx="5689601" cy="395287"/>
          </a:xfrm>
        </p:spPr>
        <p:txBody>
          <a:bodyPr/>
          <a:lstStyle/>
          <a:p>
            <a:r>
              <a:rPr lang="ru-RU" dirty="0"/>
              <a:t>Ширинкин Степан Геннадьевич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D7A4E5-2F0C-49EC-A207-9150CBA2C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геоинформатики</a:t>
            </a:r>
          </a:p>
          <a:p>
            <a:r>
              <a:rPr lang="ru-RU"/>
              <a:t>и информационной безопасности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28C8EFC-CD2C-4DEA-9528-2C24B54AF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Кафедра информационно-измерительных систем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36AC93CB-0155-418C-B85A-2B3BC99C0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C9478127-51A9-4507-B075-BA1AC5B640D7}"/>
              </a:ext>
            </a:extLst>
          </p:cNvPr>
          <p:cNvSpPr txBox="1">
            <a:spLocks/>
          </p:cNvSpPr>
          <p:nvPr/>
        </p:nvSpPr>
        <p:spPr>
          <a:xfrm>
            <a:off x="2915043" y="2438399"/>
            <a:ext cx="6363502" cy="31154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ru-RU" sz="1300" b="0" i="0" u="none" strike="noStrike" cap="none" dirty="0" smtClean="0">
                <a:solidFill>
                  <a:srgbClr val="000072"/>
                </a:solidFill>
                <a:latin typeface="+mn-lt"/>
                <a:ea typeface="NanumGothic" panose="020D0604000000000000" pitchFamily="34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LM studio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Загрузить несколько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Посмотреть как они реагируют на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разные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промты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 контекстное окно больше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температуры и др. показателей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2550662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889F21-954A-174C-AD1F-DB86BEFFD3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41847542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/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8992</TotalTime>
  <Words>743</Words>
  <Application>Microsoft Office PowerPoint</Application>
  <PresentationFormat>Произвольный</PresentationFormat>
  <Paragraphs>73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Calibri</vt:lpstr>
      <vt:lpstr>Cambria</vt:lpstr>
      <vt:lpstr>Times New Roman</vt:lpstr>
      <vt:lpstr>Simple Light</vt:lpstr>
      <vt:lpstr>Практическая работа №1</vt:lpstr>
      <vt:lpstr>Токены</vt:lpstr>
      <vt:lpstr>Токены</vt:lpstr>
      <vt:lpstr>Контекстное Окно</vt:lpstr>
      <vt:lpstr>Промпт (Вопрос)</vt:lpstr>
      <vt:lpstr>Температура (Temperature)</vt:lpstr>
      <vt:lpstr>Top_P (Nucleus Sampling)</vt:lpstr>
      <vt:lpstr>Примеры использования в геоинформатике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Бронислав</dc:creator>
  <cp:lastModifiedBy>Stepan Shirinkin</cp:lastModifiedBy>
  <cp:revision>956</cp:revision>
  <dcterms:modified xsi:type="dcterms:W3CDTF">2026-02-27T06:53:53Z</dcterms:modified>
</cp:coreProperties>
</file>